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3" name="Shape 1"/>
          <p:cNvSpPr/>
          <p:nvPr/>
        </p:nvSpPr>
        <p:spPr>
          <a:xfrm>
            <a:off x="6537960" y="777240"/>
            <a:ext cx="1920240" cy="1920240"/>
          </a:xfrm>
          <a:prstGeom prst="ellipse">
            <a:avLst/>
          </a:prstGeom>
          <a:solidFill>
            <a:srgbClr val="1B3A5C"/>
          </a:solidFill>
          <a:ln w="19050">
            <a:solidFill>
              <a:srgbClr val="17A88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07008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37960" y="18745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在环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680960" y="2880360"/>
            <a:ext cx="1188720" cy="1188720"/>
          </a:xfrm>
          <a:prstGeom prst="ellipse">
            <a:avLst/>
          </a:prstGeom>
          <a:solidFill>
            <a:srgbClr val="0E7A65"/>
          </a:solidFill>
          <a:ln w="12700">
            <a:solidFill>
              <a:srgbClr val="D9E8F5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3273552"/>
            <a:ext cx="402336" cy="4023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4187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确定性回归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685800" y="93268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技术分享 · Android 自动化测试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129844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</a:t>
            </a:r>
            <a:endParaRPr lang="en-US" sz="5400" dirty="0"/>
          </a:p>
        </p:txBody>
      </p:sp>
      <p:sp>
        <p:nvSpPr>
          <p:cNvPr id="11" name="Text 7"/>
          <p:cNvSpPr/>
          <p:nvPr/>
        </p:nvSpPr>
        <p:spPr>
          <a:xfrm>
            <a:off x="685800" y="22860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在环探索发现问题 → 固化为确定性用例 → CI 自动回归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85800" y="272491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Agentic authoring + Deterministic execution（AI 在环编写 · 确定性回放执行）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85800" y="338328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1B3A5C"/>
          </a:solidFill>
          <a:ln/>
        </p:spPr>
      </p:sp>
      <p:sp>
        <p:nvSpPr>
          <p:cNvPr id="14" name="Text 10"/>
          <p:cNvSpPr/>
          <p:nvPr/>
        </p:nvSpPr>
        <p:spPr>
          <a:xfrm>
            <a:off x="685800" y="33832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v1.8.2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1673352" y="33832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1B3A5C"/>
          </a:solidFill>
          <a:ln/>
        </p:spPr>
      </p:sp>
      <p:sp>
        <p:nvSpPr>
          <p:cNvPr id="16" name="Text 12"/>
          <p:cNvSpPr/>
          <p:nvPr/>
        </p:nvSpPr>
        <p:spPr>
          <a:xfrm>
            <a:off x="1673352" y="3383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Espresso + UiAutomator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666744" y="3383280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1B3A5C"/>
          </a:solidFill>
          <a:ln/>
        </p:spPr>
      </p:sp>
      <p:sp>
        <p:nvSpPr>
          <p:cNvPr id="18" name="Text 14"/>
          <p:cNvSpPr/>
          <p:nvPr/>
        </p:nvSpPr>
        <p:spPr>
          <a:xfrm>
            <a:off x="3666744" y="33832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+ mobile-mcp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858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分享人：Kai ｜ 2026-07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今天讲什么 —— 由浅到深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02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3931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07008"/>
            <a:ext cx="54864" cy="91440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350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E2E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2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1408176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3258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它是什么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371600" y="16733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秒讲清双相架构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207008"/>
            <a:ext cx="3931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207008"/>
            <a:ext cx="54864" cy="91440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13" name="Text 10"/>
          <p:cNvSpPr/>
          <p:nvPr/>
        </p:nvSpPr>
        <p:spPr>
          <a:xfrm>
            <a:off x="4937760" y="13350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E2E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2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140817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69280" y="13258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优势在哪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669280" y="16733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对比同类 · 六大焊接机制 · 开源借鉴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57200" y="2322576"/>
            <a:ext cx="3931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2322576"/>
            <a:ext cx="54864" cy="91440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" y="245059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E2E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2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523744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71600" y="24414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实际怎么用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37160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模式 A/B · 结合节奏 · 上手命令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754880" y="2322576"/>
            <a:ext cx="3931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754880" y="2322576"/>
            <a:ext cx="54864" cy="91440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0" y="245059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E2E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2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523744"/>
            <a:ext cx="292608" cy="29260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669280" y="24414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流程与规范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566928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八条铁律 · 6-Phase 闭环 · 设备阶梯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457200" y="3438144"/>
            <a:ext cx="3931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457200" y="3438144"/>
            <a:ext cx="54864" cy="91440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31" name="Text 25"/>
          <p:cNvSpPr/>
          <p:nvPr/>
        </p:nvSpPr>
        <p:spPr>
          <a:xfrm>
            <a:off x="640080" y="356616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E2E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2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3639312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371600" y="3557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实现原理</a:t>
            </a:r>
            <a:endParaRPr lang="en-US" sz="1500" dirty="0"/>
          </a:p>
        </p:txBody>
      </p:sp>
      <p:sp>
        <p:nvSpPr>
          <p:cNvPr id="34" name="Text 27"/>
          <p:cNvSpPr/>
          <p:nvPr/>
        </p:nvSpPr>
        <p:spPr>
          <a:xfrm>
            <a:off x="1371600" y="3904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自愈 · 固化桥 · 双链 · 统计重试 · 安全网关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4754880" y="3438144"/>
            <a:ext cx="3931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4754880" y="3438144"/>
            <a:ext cx="54864" cy="91440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37" name="Text 30"/>
          <p:cNvSpPr/>
          <p:nvPr/>
        </p:nvSpPr>
        <p:spPr>
          <a:xfrm>
            <a:off x="4937760" y="356616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E2E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en-US" sz="2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80" y="3639312"/>
            <a:ext cx="292608" cy="29260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669280" y="3557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实战案例</a:t>
            </a:r>
            <a:endParaRPr lang="en-US" sz="1500" dirty="0"/>
          </a:p>
        </p:txBody>
      </p:sp>
      <p:sp>
        <p:nvSpPr>
          <p:cNvPr id="40" name="Text 32"/>
          <p:cNvSpPr/>
          <p:nvPr/>
        </p:nvSpPr>
        <p:spPr>
          <a:xfrm>
            <a:off x="5669280" y="3904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debox HTTPDNS 五次测试演进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457200" y="45171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最后：一以贯之的工程哲学 —— 留痕不静默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它是什么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背景：UI 自动化的两难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03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来源：docs/10-项目技术分享.md §0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2651760"/>
          </a:xfrm>
          <a:prstGeom prst="rect">
            <a:avLst/>
          </a:prstGeom>
          <a:solidFill>
            <a:srgbClr val="E0525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81328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4813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纯脚本自动化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Espresso / Appium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" y="2395728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写得累：每条用例手写选择器与断言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UI 一改就挂：脆弱定位 = 最大维护成本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709160" y="1234440"/>
            <a:ext cx="397764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234440"/>
            <a:ext cx="54864" cy="2651760"/>
          </a:xfrm>
          <a:prstGeom prst="rect">
            <a:avLst/>
          </a:prstGeom>
          <a:solidFill>
            <a:srgbClr val="E8A93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81328"/>
            <a:ext cx="402336" cy="40233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32120" y="14813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纯 AI 测试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9834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Midscene / Maestro AI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983480" y="2395728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灵活但慢：每步都要调 LLM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不确定：同一用例两次结果可能不同，没法进 CI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57200" y="4114800"/>
            <a:ext cx="8229600" cy="566928"/>
          </a:xfrm>
          <a:prstGeom prst="rect">
            <a:avLst/>
          </a:prstGeom>
          <a:solidFill>
            <a:srgbClr val="0F2540"/>
          </a:solidFill>
          <a:ln/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457200" y="41148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要么累死人、要么进不了 CI —— </a:t>
            </a:r>
            <a:pPr algn="ctr" indent="0" marL="0">
              <a:buNone/>
            </a:pPr>
            <a:r>
              <a:rPr lang="en-US" sz="15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必须二选一吗？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它是什么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AutoTest：把两者焊接起来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04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§0；docs/09-AI驱动测试机制.md §0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一句话定位：AI 在环探索发现问题 → 固化为确定性用例 → CI 自动回归 的闭环测试体系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5661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54864" cy="2286000"/>
          </a:xfrm>
          <a:prstGeom prst="rect">
            <a:avLst/>
          </a:prstGeom>
          <a:solidFill>
            <a:srgbClr val="17A88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73936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177393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在环（探索 / 首跑 / 修复）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13232" y="228600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+ mobile-mcp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看屏幕 · 规划 · 判定 · 读知识库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产出：用例缓存 + 知识库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120640" y="1572768"/>
            <a:ext cx="35661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120640" y="1572768"/>
            <a:ext cx="54864" cy="228600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2" y="1773936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870448" y="177393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确定性执行（CI 回归）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376672" y="2286000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AAR（Espresso/UiAutomator）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零 LLM 依赖 · 缓存回放 · 自愈兜底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报告回流：自愈 / AI 断言 / 根因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114800" y="2212848"/>
            <a:ext cx="914400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18" name="Text 14"/>
          <p:cNvSpPr/>
          <p:nvPr/>
        </p:nvSpPr>
        <p:spPr>
          <a:xfrm>
            <a:off x="4114800" y="19568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114800" y="3035808"/>
            <a:ext cx="914400" cy="237744"/>
          </a:xfrm>
          <a:prstGeom prst="leftArrow">
            <a:avLst/>
          </a:prstGeom>
          <a:solidFill>
            <a:srgbClr val="1B3A5C"/>
          </a:solidFill>
          <a:ln/>
        </p:spPr>
      </p:sp>
      <p:sp>
        <p:nvSpPr>
          <p:cNvPr id="20" name="Text 16"/>
          <p:cNvSpPr/>
          <p:nvPr/>
        </p:nvSpPr>
        <p:spPr>
          <a:xfrm>
            <a:off x="4114800" y="33101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回流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EAF5F1"/>
          </a:solidFill>
          <a:ln w="9525">
            <a:solidFill>
              <a:srgbClr val="17A88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21792" y="4078224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核心取舍：</a:t>
            </a:r>
            <a:pPr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所有 LLM 能力只定义接口、外部注入 —— 探索期注入去探索；CI 期不注入，框架自动降级为确定性行为并留痕。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它是什么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一组数字 &amp; 技术栈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05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§0 §1.1；docs/01-架构设计.md §8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56816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280160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1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源码文件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96896" y="1188720"/>
            <a:ext cx="1956816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96896" y="1280160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1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596896" y="19202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功能模块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36592" y="1188720"/>
            <a:ext cx="1956816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36592" y="1280160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1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5846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736592" y="19202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行主代码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76288" y="1188720"/>
            <a:ext cx="1956816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76288" y="1280160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1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323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76288" y="19202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条单元测试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3383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技术 / 版本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作用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语言 / 构建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Kotlin 2.0.21 · Gradle 8.9 + AGP 8.7.3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全框架 DSL/sealed class；AAR 发布 mavenLocal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应用内 / 跨进程测试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Espresso 3.5.1 · UiAutomator 2.3.0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同进程 UI 操作；跨 App / 系统弹窗 / 黑盒定位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测试框架 / 序列化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JUnit 4.13.2 · Gson 2.10.1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TestRule 扩展点；缓存 / 指纹 / 报告 JSON 落盘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设备控制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adb shell（免 root）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网络 / 权限 / 屏幕 / logcat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AI 大脑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Claude Code + mobile-mcp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自然语言驱动真机、截图理解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457200" y="45902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minSdk 24（Android 7.0）· compileSdk 35（Android 15）· 68 个测试文件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它是什么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系统全景：两条腿走路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06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来源：docs/01 §1 §2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路线 A：AI 交互式测试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5331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499616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4128" y="1353312"/>
            <a:ext cx="3310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  </a:t>
            </a:r>
            <a:pPr indent="0" marL="0">
              <a:buNone/>
            </a:pPr>
            <a:r>
              <a:rPr lang="en-US" sz="9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「帮我测一下登录流程」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304288" y="1956816"/>
            <a:ext cx="219456" cy="182880"/>
          </a:xfrm>
          <a:prstGeom prst="downArrow">
            <a:avLst/>
          </a:prstGeom>
          <a:solidFill>
            <a:srgbClr val="17A88B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217627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32257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24128" y="2176272"/>
            <a:ext cx="3310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/ Codex  </a:t>
            </a:r>
            <a:pPr indent="0" marL="0">
              <a:buNone/>
            </a:pPr>
            <a:r>
              <a:rPr lang="en-US" sz="9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理解意图 · 规划 · 分析结果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304288" y="2779776"/>
            <a:ext cx="219456" cy="182880"/>
          </a:xfrm>
          <a:prstGeom prst="downArrow">
            <a:avLst/>
          </a:prstGeom>
          <a:solidFill>
            <a:srgbClr val="17A88B"/>
          </a:solidFill>
          <a:ln/>
        </p:spPr>
      </p:sp>
      <p:sp>
        <p:nvSpPr>
          <p:cNvPr id="15" name="Shape 11"/>
          <p:cNvSpPr/>
          <p:nvPr/>
        </p:nvSpPr>
        <p:spPr>
          <a:xfrm>
            <a:off x="457200" y="299923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14553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24128" y="2999232"/>
            <a:ext cx="3310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mobile-mcp Server  </a:t>
            </a:r>
            <a:pPr indent="0" marL="0">
              <a:buNone/>
            </a:pPr>
            <a:r>
              <a:rPr lang="en-US" sz="9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截图 / 点击 / 输入 / 滑动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304288" y="3602736"/>
            <a:ext cx="219456" cy="182880"/>
          </a:xfrm>
          <a:prstGeom prst="downArrow">
            <a:avLst/>
          </a:prstGeom>
          <a:solidFill>
            <a:srgbClr val="17A88B"/>
          </a:solidFill>
          <a:ln/>
        </p:spPr>
      </p:sp>
      <p:sp>
        <p:nvSpPr>
          <p:cNvPr id="19" name="Shape 14"/>
          <p:cNvSpPr/>
          <p:nvPr/>
        </p:nvSpPr>
        <p:spPr>
          <a:xfrm>
            <a:off x="457200" y="3822192"/>
            <a:ext cx="3931920" cy="585216"/>
          </a:xfrm>
          <a:prstGeom prst="rect">
            <a:avLst/>
          </a:prstGeom>
          <a:solidFill>
            <a:srgbClr val="0F2540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968496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24128" y="3822192"/>
            <a:ext cx="3310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Android 真机 / 模拟器  </a:t>
            </a:r>
            <a:pPr indent="0" marL="0">
              <a:buNone/>
            </a:pPr>
            <a:r>
              <a:rPr lang="en-US" sz="950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运行 DeBox App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754880" y="1207008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54880" y="1207008"/>
            <a:ext cx="54864" cy="155448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1389888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413248" y="13898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路线 B：CI 自动化回归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4956048" y="1847088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push → Gradle connectedAndroidTest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autotest AAR 执行 → JSON / HTML 报告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4754880" y="2980944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754880" y="2980944"/>
            <a:ext cx="54864" cy="1554480"/>
          </a:xfrm>
          <a:prstGeom prst="rect">
            <a:avLst/>
          </a:prstGeom>
          <a:solidFill>
            <a:srgbClr val="17A88B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3163824"/>
            <a:ext cx="329184" cy="329184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413248" y="31638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闭环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4956048" y="3602736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发现 bug → 固化为 autotest 用例 / 缓存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加入 CI → 每次发版自动回归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优势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优势① 架构选型：为什么不在 App 里内置 AI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07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§4.2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54864" cy="2743200"/>
          </a:xfrm>
          <a:prstGeom prst="rect">
            <a:avLst/>
          </a:prstGeom>
          <a:solidFill>
            <a:srgbClr val="E0525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4996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框架内调 AI API（已废弃）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13232" y="2048256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 App 端发 HTTP 调用 AI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看不到屏幕，只有文本上下文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无法灵活交互，改逻辑要改 App 代码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709160" y="128016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280160"/>
            <a:ext cx="54864" cy="2743200"/>
          </a:xfrm>
          <a:prstGeom prst="rect">
            <a:avLst/>
          </a:prstGeom>
          <a:solidFill>
            <a:srgbClr val="17A88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499616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499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+ mobile-mcp（采用）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965192" y="2048256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能看截图：看屏幕 → 规划 → 操作 → 复查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灵活对话式驱动，人类级判断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无需改 App 代码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57200" y="4261104"/>
            <a:ext cx="8229600" cy="493776"/>
          </a:xfrm>
          <a:prstGeom prst="rect">
            <a:avLst/>
          </a:prstGeom>
          <a:solidFill>
            <a:srgbClr val="EAF5F1"/>
          </a:solidFill>
          <a:ln w="9525">
            <a:solidFill>
              <a:srgbClr val="17A88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1792" y="4261104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mobile-mcp 提供 list_devices / launch / screenshot / list_elements / click / type / swipe 等工具，AI 借它「看屏幕→规划→操作→再看截图判断」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优势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优势② 六大机制：把 AI 与确定性焊接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08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§4.3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机制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AI 在环时（authoring）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CI 执行时（execution）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三级自愈定位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注入 AiLocatorFallback 兜底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3A5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不注入，降级到 L2 指纹自愈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固化桥缓存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READ_WRITE 产出缓存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3A5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READ_ONLY 确定性回放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AI 软断言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注入评估器评估视觉状态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3A5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不注入，记 SKIPPED 留痕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统计重试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3A5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历史通过率驱动重试预算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双链拦截器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全程证据采集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3A5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同左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根因签名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AI 读结构化根因去修复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3A5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报告自动回填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224528"/>
            <a:ext cx="8229600" cy="512064"/>
          </a:xfrm>
          <a:prstGeom prst="rect">
            <a:avLst/>
          </a:prstGeom>
          <a:solidFill>
            <a:srgbClr val="0F2540"/>
          </a:solidFill>
          <a:ln/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21792" y="4224528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关键原则：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LLM 只在 authoring 阶段在环；execution 阶段 AI 接口不注入，框架自动降级为确定性行为并留痕。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优势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优势③ 站在巨人肩上：开源借鉴全景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09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§2（每个借鉴点均有源码注释实证）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3017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开源项目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借鉴什么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落在哪 / 关键收获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Kaspresso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双链拦截器 · step DSL · Device API · flakySafely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架构骨架：观察与恢复严格分离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Healenium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元素指纹自愈 + 「静默自愈掩盖真实回归」教训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selector/：自愈必须留痕可审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midscene.js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AI 跑一次 → 缓存 → 确定性回放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bridge/：探索沉淀为零 LLM 回放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Marathon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flakiness 是统计问题，用历史数据解决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stability/：重试预算按历史通过率反解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Maestro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assertWithAI 的 optional 软断言设计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assertion/：AI 断言是兜底而非主路径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AppAgent / Mobile-Agent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知识沉淀 + 危险操作 pre-action 比对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app-knowledge/ + dangerous-ops.md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224528"/>
            <a:ext cx="8229600" cy="512064"/>
          </a:xfrm>
          <a:prstGeom prst="rect">
            <a:avLst/>
          </a:prstGeom>
          <a:solidFill>
            <a:srgbClr val="EAF5F1"/>
          </a:solidFill>
          <a:ln w="9525">
            <a:solidFill>
              <a:srgbClr val="17A88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4224528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「Kaspresso 给了一副骨架，Healenium / midscene / Marathon / Maestro 各给一块器官 —— 自愈、回放、统计重试、AI 断言。我们做的是在『AI 在环』这个新场景下重新组装。」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优势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优势④ 和同类工具的区别（一问一答）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§9.2；docs/09 §0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25296"/>
            <a:ext cx="8229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25296"/>
            <a:ext cx="54864" cy="694944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417320"/>
            <a:ext cx="310896" cy="310896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12801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和 Appium / Maestro 有什么区别？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33856" y="159105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它们要么纯脚本要么纯 AI；我们是「AI 探索 + 确定性回放」双相，CI 期零 LLM。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39696"/>
            <a:ext cx="8229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139696"/>
            <a:ext cx="54864" cy="694944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331720"/>
            <a:ext cx="310896" cy="310896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33856" y="21945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会不会乱点、点坏钱包数据？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33856" y="250545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dangerous-ops 清单 pre-action 比对 + 代码级点击网关（fail-closed）+ 禁清数据 / 登出 / 切环境。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54096"/>
            <a:ext cx="8229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054096"/>
            <a:ext cx="54864" cy="694944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3246120"/>
            <a:ext cx="310896" cy="310896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" y="31089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自愈会不会掩盖真 bug？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33856" y="341985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自愈命中必生成事件进报告、要求人审（Healenium 的教训）；只有确定性命中才静默。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968496"/>
            <a:ext cx="8229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968496"/>
            <a:ext cx="54864" cy="694944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26" name="Shape 24"/>
          <p:cNvSpPr/>
          <p:nvPr/>
        </p:nvSpPr>
        <p:spPr>
          <a:xfrm>
            <a:off x="658368" y="4160520"/>
            <a:ext cx="310896" cy="310896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33856" y="40233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UI 改版后缓存用例会挂吗？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33856" y="433425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缓存存元素快照而非选择器，回放时重建选择器再走三级自愈，抗 UI 微调。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怎么用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实际怎么用① 两种测试模式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11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来源：docs/testing/USAGE-使用教程.md §0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2743200"/>
          </a:xfrm>
          <a:prstGeom prst="rect">
            <a:avLst/>
          </a:prstGeom>
          <a:solidFill>
            <a:srgbClr val="17A88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44752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25296" y="14447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模式 A：AI 驱动黑盒（主力）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13232" y="1975104"/>
            <a:ext cx="354787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用 mobile-mcp / adb 驱动真机 + 读日志判断，按 cases.md 逐条执行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适合：探索性 · 跨系统 / 网络注入 · 需人类级判断（HTTPDNS 回环这类）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产物：results.md + 证据截图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709160" y="1243584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243584"/>
            <a:ext cx="54864" cy="274320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444752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44475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模式 B：框架 instrumented（可回归）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65192" y="1975104"/>
            <a:ext cx="354787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基于 com.autotest:autotest AAR 写 Espresso/UiAutomator 用例，设备内自动跑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适合：确定性 UI 冒烟 / 回归，可进 CI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产物：report_*.json + 失败截图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57200" y="4206240"/>
            <a:ext cx="8229600" cy="530352"/>
          </a:xfrm>
          <a:prstGeom prst="rect">
            <a:avLst/>
          </a:prstGeom>
          <a:solidFill>
            <a:srgbClr val="0F2540"/>
          </a:solidFill>
          <a:ln/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621792" y="420624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怎么选：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新功能先用 A 快速探索；把稳定、可重复、值得每次回归的关键路径沉淀成 B。两者互补，不是二选一。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怎么用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实际怎么用② 每个新需求的 A+B 节奏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来源：USAGE §0.1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20299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1572768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3533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85216" y="177393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 先行 · 探索发现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85216" y="21031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 runs/日期-功能/cases.md，AI 黑盒跑：主流程+边界+异常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05456" y="1874520"/>
            <a:ext cx="164592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12" name="Shape 10"/>
          <p:cNvSpPr/>
          <p:nvPr/>
        </p:nvSpPr>
        <p:spPr>
          <a:xfrm>
            <a:off x="2670048" y="1243584"/>
            <a:ext cx="20299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70048" y="1243584"/>
            <a:ext cx="54864" cy="1572768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14" name="Text 12"/>
          <p:cNvSpPr/>
          <p:nvPr/>
        </p:nvSpPr>
        <p:spPr>
          <a:xfrm>
            <a:off x="2798064" y="13533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798064" y="177393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发现 Bug → 修复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98064" y="21031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走 agent-dev-loop 修，A 回归直到全 PASS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18304" y="1874520"/>
            <a:ext cx="164592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18" name="Shape 16"/>
          <p:cNvSpPr/>
          <p:nvPr/>
        </p:nvSpPr>
        <p:spPr>
          <a:xfrm>
            <a:off x="4882896" y="1243584"/>
            <a:ext cx="20299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82896" y="1243584"/>
            <a:ext cx="54864" cy="1572768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20" name="Text 18"/>
          <p:cNvSpPr/>
          <p:nvPr/>
        </p:nvSpPr>
        <p:spPr>
          <a:xfrm>
            <a:off x="5010912" y="13533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010912" y="177393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筛选沉淀 A→B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10912" y="21031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只挑「确定性 + 值得每次回归 + 纯 UI 断言」的写成 B 用例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931152" y="1874520"/>
            <a:ext cx="164592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24" name="Shape 22"/>
          <p:cNvSpPr/>
          <p:nvPr/>
        </p:nvSpPr>
        <p:spPr>
          <a:xfrm>
            <a:off x="7095744" y="1243584"/>
            <a:ext cx="20299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095744" y="1243584"/>
            <a:ext cx="54864" cy="1572768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26" name="Text 24"/>
          <p:cNvSpPr/>
          <p:nvPr/>
        </p:nvSpPr>
        <p:spPr>
          <a:xfrm>
            <a:off x="7223760" y="13533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④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23760" y="177393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收尾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223760" y="21031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知识库回写 + lessons + autotest.enabled 复位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F0F5FA"/>
          </a:solidFill>
          <a:ln w="9525">
            <a:solidFill>
              <a:srgbClr val="D8E2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30175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以后任意改动 / 发版：先跑 B 回归集（快、确定、专抓回归）→ 再对改动部分用 A 探索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57200" y="3675888"/>
            <a:ext cx="3977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858768"/>
            <a:ext cx="274320" cy="27432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60704" y="378561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原则一  </a:t>
            </a:r>
            <a:pPr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 发现的 bug，修复后必补一条 B 回归用例（fix-with-regression-test，防复发）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709160" y="3675888"/>
            <a:ext cx="3977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3858768"/>
            <a:ext cx="274320" cy="27432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312664" y="378561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原则二  </a:t>
            </a:r>
            <a:pPr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 是越攒越密的回归网底座；A 是每需求一次性的尖端探索 —— 久了 B 越密、A 越省力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怎么用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实际怎么用③ 跑起来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来源：USAGE §2 §3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39776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338328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0817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模式 A：发一句话即可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810512"/>
            <a:ext cx="3474720" cy="475488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1051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「按 runs/日期-功能/cases.md 跑测试」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2395728"/>
            <a:ext cx="3520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自动完成：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读知识库（元素表 / 弹窗 / 危险清单）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确认环境（无设备则启动模拟器）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逐条执行 + 截图验证 + 危险比对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结果写 results.md（/loop 5m 监工防卡住）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09160" y="1243584"/>
            <a:ext cx="39776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243584"/>
            <a:ext cx="54864" cy="33832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965192" y="140817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模式 B：五步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5192" y="1828800"/>
            <a:ext cx="358444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local.properties 里 autotest.enabled=true（默认 off，绝不进正式包）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选设备：模拟器优先，已登录 + 停在前置页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900" dirty="0">
                <a:solidFill>
                  <a:srgbClr val="1B3A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③ ./gradlew :app:connectedAppDebugAndroidTest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900" dirty="0">
                <a:solidFill>
                  <a:srgbClr val="1B3A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④ 报告：App 外部目录 /autotest/report_*.json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⑤ 测完把开关复位 false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· 流程规范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八条铁律 + 危险操作红线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14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来源：CLAUDE.md 铁律；docs/10 §5；USAGE §5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2011680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104241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1335024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 AI 驱动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03504" y="166420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全程自主执行，不等人指示每一步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30145" y="1243584"/>
            <a:ext cx="2011680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30145" y="1243584"/>
            <a:ext cx="54864" cy="104241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2676449" y="1335024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 按用例执行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76449" y="166420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cases.md 是唯一用例来源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03090" y="1243584"/>
            <a:ext cx="2011680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03090" y="1243584"/>
            <a:ext cx="54864" cy="104241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749394" y="1335024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监工模式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49394" y="166420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/loop 5m 定时检查，防 AI 卡住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676034" y="1243584"/>
            <a:ext cx="2011680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76034" y="1243584"/>
            <a:ext cx="54864" cy="104241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6822338" y="1335024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 最小人工介入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822338" y="166420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只允许白名单五项（验证码等）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2414016"/>
            <a:ext cx="2011680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2414016"/>
            <a:ext cx="54864" cy="104241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250545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修复走 agent-dev-loop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03504" y="283464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计划实现 + Codex 独立评审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30145" y="2414016"/>
            <a:ext cx="2011680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530145" y="2414016"/>
            <a:ext cx="54864" cy="104241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2676449" y="250545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先读知识库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6449" y="283464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先读知识库，探索产物回写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03090" y="2414016"/>
            <a:ext cx="2011680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03090" y="2414016"/>
            <a:ext cx="54864" cy="104241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2" name="Text 30"/>
          <p:cNvSpPr/>
          <p:nvPr/>
        </p:nvSpPr>
        <p:spPr>
          <a:xfrm>
            <a:off x="4749394" y="250545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 危险操作比对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49394" y="283464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点击前比对危险清单，命中先停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76034" y="2414016"/>
            <a:ext cx="2011680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676034" y="2414016"/>
            <a:ext cx="54864" cy="104241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6" name="Text 34"/>
          <p:cNvSpPr/>
          <p:nvPr/>
        </p:nvSpPr>
        <p:spPr>
          <a:xfrm>
            <a:off x="6822338" y="250545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 模拟器优先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822338" y="283464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设备阶梯 L1→L2→L3 取最低可行层级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3785616"/>
            <a:ext cx="8229600" cy="896112"/>
          </a:xfrm>
          <a:prstGeom prst="rect">
            <a:avLst/>
          </a:prstGeom>
          <a:solidFill>
            <a:srgbClr val="FBECEC"/>
          </a:solidFill>
          <a:ln w="12700">
            <a:solidFill>
              <a:srgbClr val="E05252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4041648"/>
            <a:ext cx="384048" cy="38404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1207008" y="3877056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0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危险红线（钱包 App 误操作不可逆）：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不清数据 / 不卸载 / 不登出 / 不切环境 / 不点转账·签名·删除 —— 宁可 FAIL 不误点。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· 流程规范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监工模式：6-Phase 闭环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§5.2；CLAUDE.md 测试流程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6151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54864" cy="128016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1426464"/>
            <a:ext cx="457200" cy="457200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" y="1426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确认环境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设备在线，App 可启动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90672" y="1801368"/>
            <a:ext cx="182880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13" name="Shape 11"/>
          <p:cNvSpPr/>
          <p:nvPr/>
        </p:nvSpPr>
        <p:spPr>
          <a:xfrm>
            <a:off x="3291840" y="1280160"/>
            <a:ext cx="26151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91840" y="1280160"/>
            <a:ext cx="54864" cy="128016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15" name="Shape 13"/>
          <p:cNvSpPr/>
          <p:nvPr/>
        </p:nvSpPr>
        <p:spPr>
          <a:xfrm>
            <a:off x="3438144" y="1426464"/>
            <a:ext cx="457200" cy="457200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3438144" y="1426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05072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全量测试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199339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P0→P1→P2 逐条重置+截图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25312" y="1801368"/>
            <a:ext cx="182880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20" name="Shape 18"/>
          <p:cNvSpPr/>
          <p:nvPr/>
        </p:nvSpPr>
        <p:spPr>
          <a:xfrm>
            <a:off x="6126480" y="1280160"/>
            <a:ext cx="26151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1280160"/>
            <a:ext cx="54864" cy="128016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426464"/>
            <a:ext cx="457200" cy="457200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6272784" y="1426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39712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先写文档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99339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结果先入文档，再谈修复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2761488"/>
            <a:ext cx="26151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761488"/>
            <a:ext cx="54864" cy="1280160"/>
          </a:xfrm>
          <a:prstGeom prst="rect">
            <a:avLst/>
          </a:prstGeom>
          <a:solidFill>
            <a:srgbClr val="E05252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2907792"/>
            <a:ext cx="457200" cy="457200"/>
          </a:xfrm>
          <a:prstGeom prst="ellipse">
            <a:avLst/>
          </a:prstGeom>
          <a:solidFill>
            <a:srgbClr val="E05252"/>
          </a:solidFill>
          <a:ln/>
        </p:spPr>
      </p:sp>
      <p:sp>
        <p:nvSpPr>
          <p:cNvPr id="29" name="Text 27"/>
          <p:cNvSpPr/>
          <p:nvPr/>
        </p:nvSpPr>
        <p:spPr>
          <a:xfrm>
            <a:off x="603504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2944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34747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走 agent-dev-loop（Codex 评审）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90672" y="3282696"/>
            <a:ext cx="182880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33" name="Shape 31"/>
          <p:cNvSpPr/>
          <p:nvPr/>
        </p:nvSpPr>
        <p:spPr>
          <a:xfrm>
            <a:off x="3291840" y="2761488"/>
            <a:ext cx="26151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761488"/>
            <a:ext cx="54864" cy="128016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35" name="Shape 33"/>
          <p:cNvSpPr/>
          <p:nvPr/>
        </p:nvSpPr>
        <p:spPr>
          <a:xfrm>
            <a:off x="3438144" y="2907792"/>
            <a:ext cx="457200" cy="457200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3438144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P5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005072" y="2944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全量回归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3474720" y="34747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仍 FAIL → 回 P3；全 PASS → P6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925312" y="3282696"/>
            <a:ext cx="182880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40" name="Shape 38"/>
          <p:cNvSpPr/>
          <p:nvPr/>
        </p:nvSpPr>
        <p:spPr>
          <a:xfrm>
            <a:off x="6126480" y="2761488"/>
            <a:ext cx="26151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761488"/>
            <a:ext cx="54864" cy="128016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2907792"/>
            <a:ext cx="457200" cy="457200"/>
          </a:xfrm>
          <a:prstGeom prst="ellipse">
            <a:avLst/>
          </a:prstGeom>
          <a:solidFill>
            <a:srgbClr val="0F2540"/>
          </a:solidFill>
          <a:ln/>
        </p:spPr>
      </p:sp>
      <p:sp>
        <p:nvSpPr>
          <p:cNvPr id="43" name="Text 41"/>
          <p:cNvSpPr/>
          <p:nvPr/>
        </p:nvSpPr>
        <p:spPr>
          <a:xfrm>
            <a:off x="6272784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P6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839712" y="2944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全量验收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309360" y="34747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不改码独立跑一遍，全 PASS 结束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370832"/>
            <a:ext cx="8229600" cy="402336"/>
          </a:xfrm>
          <a:prstGeom prst="rect">
            <a:avLst/>
          </a:prstGeom>
          <a:solidFill>
            <a:srgbClr val="EAF5F1"/>
          </a:solidFill>
          <a:ln w="9525">
            <a:solidFill>
              <a:srgbClr val="17A8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37083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关键：每轮全量跑（防回归）· 先记录再修复 · 验收是独立的全新测试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· 流程规范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设备阶梯：emulator-first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来源：USAGE §0.2；CLAUDE.md 铁律#8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280160"/>
            <a:ext cx="77724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280160"/>
            <a:ext cx="54864" cy="82296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8" name="Shape 6"/>
          <p:cNvSpPr/>
          <p:nvPr/>
        </p:nvSpPr>
        <p:spPr>
          <a:xfrm>
            <a:off x="1078992" y="1472184"/>
            <a:ext cx="438912" cy="438912"/>
          </a:xfrm>
          <a:prstGeom prst="ellipse">
            <a:avLst/>
          </a:prstGeom>
          <a:solidFill>
            <a:srgbClr val="17A88B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14721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64208" y="137160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普通模拟器（默认层）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64208" y="17007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UI 流 / 导航 / 功能黑盒 / 弹窗表单 / B 模式回归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63040" y="2249424"/>
            <a:ext cx="72237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463040" y="2249424"/>
            <a:ext cx="54864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Shape 12"/>
          <p:cNvSpPr/>
          <p:nvPr/>
        </p:nvSpPr>
        <p:spPr>
          <a:xfrm>
            <a:off x="1627632" y="2441448"/>
            <a:ext cx="438912" cy="43891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5" name="Text 13"/>
          <p:cNvSpPr/>
          <p:nvPr/>
        </p:nvSpPr>
        <p:spPr>
          <a:xfrm>
            <a:off x="1627632" y="2441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12848" y="234086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root 模拟器（注入层）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12848" y="267004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DNS / iptables 故障注入 · WiFi↔蜂窝切换 · 需 root 的观测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011680" y="3218688"/>
            <a:ext cx="66751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011680" y="3218688"/>
            <a:ext cx="54864" cy="822960"/>
          </a:xfrm>
          <a:prstGeom prst="rect">
            <a:avLst/>
          </a:prstGeom>
          <a:solidFill>
            <a:srgbClr val="E05252"/>
          </a:solidFill>
          <a:ln/>
        </p:spPr>
      </p:sp>
      <p:sp>
        <p:nvSpPr>
          <p:cNvPr id="20" name="Shape 18"/>
          <p:cNvSpPr/>
          <p:nvPr/>
        </p:nvSpPr>
        <p:spPr>
          <a:xfrm>
            <a:off x="2176272" y="3410712"/>
            <a:ext cx="438912" cy="438912"/>
          </a:xfrm>
          <a:prstGeom prst="ellipse">
            <a:avLst/>
          </a:prstGeom>
          <a:solidFill>
            <a:srgbClr val="E05252"/>
          </a:solidFill>
          <a:ln/>
        </p:spPr>
      </p:sp>
      <p:sp>
        <p:nvSpPr>
          <p:cNvPr id="21" name="Text 19"/>
          <p:cNvSpPr/>
          <p:nvPr/>
        </p:nvSpPr>
        <p:spPr>
          <a:xfrm>
            <a:off x="2176272" y="34107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61488" y="331012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真机（复核层）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61488" y="363931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厂商特性 / 推送 / 真实蜂窝 · 网络噪声场景复核 · 最终验收抽核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每条用例标注 L1/L2/L3，取最低可行层级；真机不在线不阻塞（标 ⏸️ 其余照跑）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5171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为什么：真机安全锁屏是历史上最大的人工介入源；模拟器不锁屏、可无人值守、登录态可打 snapshot 固化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实现原理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原理① 三级降级定位 + 指纹自愈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17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§3.1；docs/09 §1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问题：UI 文案 / 布局微调 → 选择器失效，是 UI 自动化最大的维护成本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26464"/>
            <a:ext cx="48463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26464"/>
            <a:ext cx="54864" cy="676656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14996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 确定性定位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1792" y="1792224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SelectorSpec（sealed AST）按 DNF 展开逐个查，命中即回写指纹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97480" y="2103120"/>
            <a:ext cx="182880" cy="109728"/>
          </a:xfrm>
          <a:prstGeom prst="downArrow">
            <a:avLst/>
          </a:prstGeom>
          <a:solidFill>
            <a:srgbClr val="5A6B7E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212848"/>
            <a:ext cx="48463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12848"/>
            <a:ext cx="54864" cy="67665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2286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L2 指纹自愈（零成本）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21792" y="257860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dump 层级 XML → 候选集 → 与历史指纹算加权相似度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97480" y="2889504"/>
            <a:ext cx="182880" cy="109728"/>
          </a:xfrm>
          <a:prstGeom prst="downArrow">
            <a:avLst/>
          </a:prstGeom>
          <a:solidFill>
            <a:srgbClr val="5A6B7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999232"/>
            <a:ext cx="48463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999232"/>
            <a:ext cx="54864" cy="676656"/>
          </a:xfrm>
          <a:prstGeom prst="rect">
            <a:avLst/>
          </a:prstGeom>
          <a:solidFill>
            <a:srgbClr val="E8A93D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30723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L3 AI 兜底（可选注入）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1792" y="336499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selectorKey + hierarchyXml 交给 LLM；CI 不注入自动跳过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577840" y="1426464"/>
            <a:ext cx="3108960" cy="2359152"/>
          </a:xfrm>
          <a:prstGeom prst="rect">
            <a:avLst/>
          </a:prstGeom>
          <a:solidFill>
            <a:srgbClr val="0F2540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76072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A8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HealingEngine.score()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760720" y="1865376"/>
            <a:ext cx="278892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res-id 0.40 ｜ text 0.30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desc 0.20 ｜ class 0.10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空属性不计分、重新归一化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相似度：相等 1.0 / 包含 0.8 /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归一化 Levenshtein × 0.6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E8A93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阈值 0.75：以下宁降级不硬认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950208"/>
            <a:ext cx="8229600" cy="786384"/>
          </a:xfrm>
          <a:prstGeom prst="rect">
            <a:avLst/>
          </a:prstGeom>
          <a:solidFill>
            <a:srgbClr val="EAF5F1"/>
          </a:solidFill>
          <a:ln w="9525">
            <a:solidFill>
              <a:srgbClr val="17A8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4005072"/>
            <a:ext cx="7955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防误愈设计：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自愈/AI 命中只记 provisional 指纹（封顶 0.85、24h TTL、不转正）；多命中无法消歧 fail-closed 不点击；自愈命中必生成事件进报告、要求人审（Healenium 教训）。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实现原理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原理② 固化桥：AI 探索 → 零 LLM 回放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§3.2；docs/09 §2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2615184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1005840"/>
          </a:xfrm>
          <a:prstGeom prst="rect">
            <a:avLst/>
          </a:prstGeom>
          <a:solidFill>
            <a:srgbClr val="E8A93D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3716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黑盒探索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21792" y="17190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首跑打通路径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090672" y="1627632"/>
            <a:ext cx="256032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11" name="Shape 9"/>
          <p:cNvSpPr/>
          <p:nvPr/>
        </p:nvSpPr>
        <p:spPr>
          <a:xfrm>
            <a:off x="3364992" y="1243584"/>
            <a:ext cx="2615184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64992" y="1243584"/>
            <a:ext cx="54864" cy="100584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13" name="Text 11"/>
          <p:cNvSpPr/>
          <p:nvPr/>
        </p:nvSpPr>
        <p:spPr>
          <a:xfrm>
            <a:off x="3529584" y="13716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JSON 缓存回放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29584" y="17190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CachedCase 确定性回放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98464" y="1627632"/>
            <a:ext cx="256032" cy="237744"/>
          </a:xfrm>
          <a:prstGeom prst="rightArrow">
            <a:avLst/>
          </a:prstGeom>
          <a:solidFill>
            <a:srgbClr val="17A88B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243584"/>
            <a:ext cx="2615184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2784" y="1243584"/>
            <a:ext cx="54864" cy="10058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6437376" y="13716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Kotlin 白盒用例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37376" y="17190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稳定后固化为手写 Scenario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3408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成本递减 · 稳定性递增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724912"/>
            <a:ext cx="3977640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28529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关键设计：存快照，不存选择器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3200400"/>
            <a:ext cx="3611880" cy="1426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CachedStep.target = 完整元素快照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回放按 res-id→desc→text 稳定性重建选择器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再走三级自愈 → 元素微调不破缓存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传统「录制回放」脆在存了死选择器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724912"/>
            <a:ext cx="3977640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92040" y="28529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CacheMode 三态 + 防假绿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892040" y="3218688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EAF5F1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321868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READ_WRITE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53912" y="321868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0F2540"/>
          </a:solidFill>
          <a:ln/>
        </p:spPr>
      </p:sp>
      <p:sp>
        <p:nvSpPr>
          <p:cNvPr id="29" name="Text 27"/>
          <p:cNvSpPr/>
          <p:nvPr/>
        </p:nvSpPr>
        <p:spPr>
          <a:xfrm>
            <a:off x="6153912" y="321868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READ_ONLY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24344" y="3218688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F5EAD8"/>
          </a:solidFill>
          <a:ln/>
        </p:spPr>
      </p:sp>
      <p:sp>
        <p:nvSpPr>
          <p:cNvPr id="31" name="Text 29"/>
          <p:cNvSpPr/>
          <p:nvPr/>
        </p:nvSpPr>
        <p:spPr>
          <a:xfrm>
            <a:off x="7324344" y="321868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4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WRITE_ONLY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56616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探索期 ｜ CI（拒写留痕）｜ 强制重探索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92040" y="3858768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空用例 / 空缓存必 FAIL，不假绿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回放 CLICK 同样过危险操作守卫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非法 payload / 拉不起 App 都显式失败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实现原理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原理③ 双链拦截器：观察与恢复严格分离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19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§3.4；docs/01 §4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397764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2651760"/>
          </a:xfrm>
          <a:prstGeom prst="rect">
            <a:avLst/>
          </a:prstGeom>
          <a:solidFill>
            <a:srgbClr val="1B3A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26464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142646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watcher 链（观察）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13232" y="1920240"/>
            <a:ext cx="3547872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纯旁路，永不影响测试结果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自身异常被 safely{} 吞掉但留痕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Logging / Screenshot（默认仅失败截图，省 ~75% 存储）/ Logcat（失败 dump 300 行）/ Performance（P50/P95）/ Memory（PSS 基线检泄漏）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243584"/>
            <a:ext cx="397764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243584"/>
            <a:ext cx="54864" cy="2651760"/>
          </a:xfrm>
          <a:prstGeom prst="rect">
            <a:avLst/>
          </a:prstGeom>
          <a:solidFill>
            <a:srgbClr val="17A88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42646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42646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behavior 链（恢复）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965192" y="1920240"/>
            <a:ext cx="3547872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唯一允许影响结果的链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失败 → 按序尝试恢复 → 任一成功重试一次 → 全链无解才抛错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DialogDismiss 只挂 behavior 链：默认词表不含「确认 / 同意」类按钮，防误点危险确认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57200" y="4059936"/>
            <a:ext cx="8229600" cy="658368"/>
          </a:xfrm>
          <a:prstGeom prst="rect">
            <a:avLst/>
          </a:prstGeom>
          <a:solidFill>
            <a:srgbClr val="F5EAD8"/>
          </a:solidFill>
          <a:ln w="9525">
            <a:solidFill>
              <a:srgbClr val="E8A9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24528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97280" y="4059936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21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踩坑沉淀：</a:t>
            </a:r>
            <a:pPr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弹窗扫描改成「一次抓取所有 clickable 本地匹配」，替代每步 23 次跨进程 findObject —— 被测 App 永不 idle 时这是主要耗时来源。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实现原理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原理④ 统计化稳定性：重试不拍脑袋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20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§3.3；docs/09 §4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3977640" cy="1737360"/>
          </a:xfrm>
          <a:prstGeom prst="rect">
            <a:avLst/>
          </a:prstGeom>
          <a:solidFill>
            <a:srgbClr val="0F2540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A8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AdaptiveRetryPolicy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682496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 = ⌈ln(1−T)/ln(1−p)⌉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2249424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9F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由历史通过率 p 反解目标成功率 T 的尝试次数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CE9F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p=1 → 0 次不浪费；p=0 → 封顶 maxRetries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1243584"/>
            <a:ext cx="39776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243584"/>
            <a:ext cx="54864" cy="1737360"/>
          </a:xfrm>
          <a:prstGeom prst="rect">
            <a:avLst/>
          </a:prstGeom>
          <a:solidFill>
            <a:srgbClr val="17A88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426464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376672" y="1426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TestHistoryStore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37760" y="184708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每用例最近 50 次 pass/fail 滚动窗口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JSON 跨 run 积累，是重试预算的数据底座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每轮尝试是独立统计样本，自动回写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163824"/>
            <a:ext cx="39776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3163824"/>
            <a:ext cx="54864" cy="1536192"/>
          </a:xfrm>
          <a:prstGeom prst="rect">
            <a:avLst/>
          </a:prstGeom>
          <a:solidFill>
            <a:srgbClr val="E0525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32918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FlakyClassifier 规则链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0080" y="3621024"/>
            <a:ext cx="3611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自定义规则 → 内置关键词 → 内置正则 → HARD_FAIL 保守兜底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宁可漏判 FLAKY 多跑一次，不把真 bug 误判成 FLAKY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09160" y="3163824"/>
            <a:ext cx="39776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09160" y="3163824"/>
            <a:ext cx="54864" cy="1536192"/>
          </a:xfrm>
          <a:prstGeom prst="rect">
            <a:avLst/>
          </a:prstGeom>
          <a:solidFill>
            <a:srgbClr val="E05252"/>
          </a:solidFill>
          <a:ln/>
        </p:spPr>
      </p:sp>
      <p:sp>
        <p:nvSpPr>
          <p:cNvPr id="21" name="Text 18"/>
          <p:cNvSpPr/>
          <p:nvPr/>
        </p:nvSpPr>
        <p:spPr>
          <a:xfrm>
            <a:off x="4892040" y="32918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可重试异常白名单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92040" y="3621024"/>
            <a:ext cx="3611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flakySafely 只重试 UI 时序类（AssertionError / ISE）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刻意排除 NPE / RuntimeException —— 几乎总是真 bug，重试只会拖到超时掩盖根因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实现原理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原理⑤ 安全网关：约束即代码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21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来源：docs/09 §0；docs/10 §3.5；docs/lessons.md L-002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5120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2011680"/>
          </a:xfrm>
          <a:prstGeom prst="rect">
            <a:avLst/>
          </a:prstGeom>
          <a:solidFill>
            <a:srgbClr val="E0525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26464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14264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DangerousOpsGuard 点击网关（v1.7）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5800" y="192024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全部点击入口统一过闸：自愈定位 click / 回放 CLICK / UiAutomatorExt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词表 = 内置 + 项目配置（safety.dangerousTexts）合并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命中 → fail-closed 阻断 + 截图留证；显式 allowDangerous 才放行；事件回填报告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52160" y="1243584"/>
            <a:ext cx="2834640" cy="2011680"/>
          </a:xfrm>
          <a:prstGeom prst="rect">
            <a:avLst/>
          </a:prstGeom>
          <a:solidFill>
            <a:srgbClr val="FBECEC"/>
          </a:solidFill>
          <a:ln w="9525">
            <a:solidFill>
              <a:srgbClr val="E05252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035040" y="138988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背后的教训（L-002）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035040" y="1719072"/>
            <a:ext cx="24871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「AI 读文档自觉遵守」只覆盖 AI 在环路径；回放 / 自愈这类确定性执行路径必须代码级守卫。评审安全规则要问：哪些执行路径绕过了这条纪律？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34564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「约束即代码」的另外两例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7200" y="378561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0080" y="3877056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TestSuite 只暴露 runAll() 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不提供 runFailed() —— 「回归必须全量跑」写进 API 形状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709160" y="378561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92040" y="3877056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MonitorMode 硬超时 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独立线程跑轮次，App 卡死记合成 FAIL 进修复，而非永久挂起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· 实战案例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debox HTTPDNS：五次测试演进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22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来源：docs/testing/runs/ 五个目录（cases.md / results.md）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828800"/>
                <a:gridCol w="1645920"/>
                <a:gridCol w="1554480"/>
                <a:gridCol w="28346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#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日期 · 主题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阶段定位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规模 / 轮次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标志性发现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06-12 阿里云HTTPDNS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接入验证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67 条用例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0525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🔴 配置契约不匹配 → HTTPDNS 静默失效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06-13 域名动态切换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相邻机制 + 边界诚实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26 条用例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621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🟡 全不可达时误清已生效域名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06-23 深度测试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密钥激活后首次全链路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50 条目 + 81 测试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A621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🟡 EMAS 控制台未托管生产域名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06-25 自愈鲁棒性增强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对抗性加固 9+1 项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A13+B6+D10 项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0525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🔴 冷启后持久化域名不回灌主 API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07-01 回环 bogon 兜底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真实工单驱动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50 条用例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0525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🔴 回环污染绕过全部自愈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一条主线：接入验证 → 深度实测 → 主动加固 → 真实工单兜底，每一轮逼出更深一层的问题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· 实战案例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案例① 拿真实配置逼出 Critical（06-12）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23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来源：runs/2026-06-12-阿里云HTTPDNS/（cases/results/复盘）；docs/10 §6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背景：debox 首次接入阿里云 HTTPDNS → 按 diff 机械映射出 67 条分层用例；真机手法全部可逆、不碰生产数据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1188720"/>
          </a:xfrm>
          <a:prstGeom prst="rect">
            <a:avLst/>
          </a:prstGeom>
          <a:solidFill>
            <a:srgbClr val="FBECEC"/>
          </a:solidFill>
          <a:ln w="9525">
            <a:solidFill>
              <a:srgbClr val="E05252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755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🔴 BUG-001（Critical）：配置契约不匹配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线上 OSS 是扁平格式，实现只读嵌套段 → 配置被当「段缺失」忽略，HTTPDNS 永不激活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单测 / 本地模拟都用对格式 —— 全绿掩盖，直到拿真实线上配置核对才暴露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035808"/>
            <a:ext cx="822960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3035808"/>
            <a:ext cx="54864" cy="932688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45536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闭环：</a:t>
            </a:r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 + 给修复选项 → 用户决策 → 代码兼容扁平格式并回归，修复后坏 DNS 下成功请求 7 → 19；生产环境又逼出第二层问题（域名未加 EMAS 控制台），运维加配后兜底真正打通。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8229600" cy="512064"/>
          </a:xfrm>
          <a:prstGeom prst="rect">
            <a:avLst/>
          </a:prstGeom>
          <a:solidFill>
            <a:srgbClr val="0F2540"/>
          </a:solidFill>
          <a:ln/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" y="4224528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洞察（归纳）：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测试环境逼出代码缺陷，正式环境逼出外部配置缺陷 —— 都是「拿真实环境配置去核对」才暴露的。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· 实战案例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案例② 真实工单：回环污染兜底（07-01）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24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来源：runs/2026-07-01-HTTPDNS回环bogon兜底/（cases/results）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66928"/>
          </a:xfrm>
          <a:prstGeom prst="rect">
            <a:avLst/>
          </a:prstGeom>
          <a:solidFill>
            <a:srgbClr val="FBECEC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09728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工单：</a:t>
            </a:r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用户手机网络打不开 —— 系统 DNS 把域名解析到回环（::1/127.0.0.1），两套自愈全失效，16 小时重启 25 次无效。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822960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847088"/>
            <a:ext cx="54864" cy="841248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56816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修复与复测：</a:t>
            </a:r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客户端识别并过滤回环 / bogon 解析结果 → 触发域名升级链；root 模拟器精确注入回环复测，第 1 轮 PASS 35 / FAIL 0，污染下不再连回环。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962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排查中撞出 BUG-002：IM 备用线路不可用 —— 四步定位，客户端 failover 健全，阻断全在服务端 / 运维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95681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364992"/>
            <a:ext cx="54864" cy="1097280"/>
          </a:xfrm>
          <a:prstGeom prst="rect">
            <a:avLst/>
          </a:prstGeom>
          <a:solidFill>
            <a:srgbClr val="E8A93D"/>
          </a:solidFill>
          <a:ln/>
        </p:spPr>
      </p:sp>
      <p:sp>
        <p:nvSpPr>
          <p:cNvPr id="14" name="Text 12"/>
          <p:cNvSpPr/>
          <p:nvPr/>
        </p:nvSpPr>
        <p:spPr>
          <a:xfrm>
            <a:off x="585216" y="3474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21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Track 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5216" y="374904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读源码，证伪「不轮换」假设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32304" y="3785616"/>
            <a:ext cx="146304" cy="237744"/>
          </a:xfrm>
          <a:prstGeom prst="rightArrow">
            <a:avLst/>
          </a:prstGeom>
          <a:solidFill>
            <a:srgbClr val="5A6B7E"/>
          </a:solidFill>
          <a:ln/>
        </p:spPr>
      </p:sp>
      <p:sp>
        <p:nvSpPr>
          <p:cNvPr id="17" name="Shape 15"/>
          <p:cNvSpPr/>
          <p:nvPr/>
        </p:nvSpPr>
        <p:spPr>
          <a:xfrm>
            <a:off x="2596896" y="3364992"/>
            <a:ext cx="195681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96896" y="3364992"/>
            <a:ext cx="54864" cy="1097280"/>
          </a:xfrm>
          <a:prstGeom prst="rect">
            <a:avLst/>
          </a:prstGeom>
          <a:solidFill>
            <a:srgbClr val="E8A93D"/>
          </a:solidFill>
          <a:ln/>
        </p:spPr>
      </p:sp>
      <p:sp>
        <p:nvSpPr>
          <p:cNvPr id="19" name="Text 17"/>
          <p:cNvSpPr/>
          <p:nvPr/>
        </p:nvSpPr>
        <p:spPr>
          <a:xfrm>
            <a:off x="2724912" y="3474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21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Track B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24912" y="374904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备用域名曾 CNAME 同源，非真异线路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0" y="3785616"/>
            <a:ext cx="146304" cy="237744"/>
          </a:xfrm>
          <a:prstGeom prst="rightArrow">
            <a:avLst/>
          </a:prstGeom>
          <a:solidFill>
            <a:srgbClr val="5A6B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736592" y="3364992"/>
            <a:ext cx="195681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3364992"/>
            <a:ext cx="54864" cy="1097280"/>
          </a:xfrm>
          <a:prstGeom prst="rect">
            <a:avLst/>
          </a:prstGeom>
          <a:solidFill>
            <a:srgbClr val="E8A93D"/>
          </a:solidFill>
          <a:ln/>
        </p:spPr>
      </p:sp>
      <p:sp>
        <p:nvSpPr>
          <p:cNvPr id="24" name="Text 22"/>
          <p:cNvSpPr/>
          <p:nvPr/>
        </p:nvSpPr>
        <p:spPr>
          <a:xfrm>
            <a:off x="4864608" y="3474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21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Track C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64608" y="374904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备用证书未配，TLS 握手失败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11696" y="3785616"/>
            <a:ext cx="146304" cy="237744"/>
          </a:xfrm>
          <a:prstGeom prst="rightArrow">
            <a:avLst/>
          </a:prstGeom>
          <a:solidFill>
            <a:srgbClr val="5A6B7E"/>
          </a:solidFill>
          <a:ln/>
        </p:spPr>
      </p:sp>
      <p:sp>
        <p:nvSpPr>
          <p:cNvPr id="27" name="Shape 25"/>
          <p:cNvSpPr/>
          <p:nvPr/>
        </p:nvSpPr>
        <p:spPr>
          <a:xfrm>
            <a:off x="6876288" y="3364992"/>
            <a:ext cx="195681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76288" y="3364992"/>
            <a:ext cx="54864" cy="109728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29" name="Text 27"/>
          <p:cNvSpPr/>
          <p:nvPr/>
        </p:nvSpPr>
        <p:spPr>
          <a:xfrm>
            <a:off x="7004304" y="3474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Track 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004304" y="374904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WS 路由 400 → 运维修复后 101 GREEN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· 实战案例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案例洞察：五层递进（分享者归纳）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25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来源：五个 run 汇总归纳；各结论逐条可溯源 runs/*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8229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207008"/>
            <a:ext cx="7900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Run1 · 配置契约层  </a:t>
            </a:r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代码对，但和线上配置格式对不上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7772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1755648"/>
            <a:ext cx="7443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Run2 · 测试方法论层  </a:t>
            </a:r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诚实标注黑盒测不到的边界，不糊 PASS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2304288"/>
            <a:ext cx="7315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54480" y="2304288"/>
            <a:ext cx="6986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Run3 · 外部运维层  </a:t>
            </a:r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客户端全对，控制台漏配让兜底形同虚设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28800" y="2852928"/>
            <a:ext cx="6858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011680" y="2852928"/>
            <a:ext cx="6528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Run4 · 状态一致性层  </a:t>
            </a:r>
            <a:pPr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加固本身引入新回归：持久化 vs 实际路由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0" y="3401568"/>
            <a:ext cx="6400800" cy="457200"/>
          </a:xfrm>
          <a:prstGeom prst="rect">
            <a:avLst/>
          </a:prstGeom>
          <a:solidFill>
            <a:srgbClr val="0F2540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68880" y="3401568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Run5 · 盲区假设层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都假设「污染=解析失败/错 IP」，没料到解析到回环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8229600" cy="621792"/>
          </a:xfrm>
          <a:prstGeom prst="rect">
            <a:avLst/>
          </a:prstGeom>
          <a:solidFill>
            <a:srgbClr val="EAF5F1"/>
          </a:solidFill>
          <a:ln w="9525">
            <a:solidFill>
              <a:srgbClr val="17A8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411480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A6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方法论主线：</a:t>
            </a:r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用例从文档 / diff 映射 → 分层推进（便宜的先跑）→ 拿真实环境配置核对 → 发现问题给选项、修复走 agent-dev-loop 闭环。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 · 工程哲学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一以贯之：留痕不静默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949440" y="48326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AutoTest 技术分享 · 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来源：docs/10 §7</a:t>
            </a:r>
            <a:endParaRPr lang="en-US" sz="8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场景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不静默的做法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自愈命中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生成 LocatorEvent 进报告，要求人审（可能是真 UI 回归）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AI 断言无评估器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记 SKIPPED 进报告，不假装通过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拦截器自身异常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safely{} 吞掉但 log 留痕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缓存 READ_ONLY 拒写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留痕，不静默丢弃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根因分析失败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降级为无根因，不影响失败记录本身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A6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flaky 误判风险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保守兜底 HARD_FAIL，宁可多跑不可漏判 bug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224528"/>
            <a:ext cx="8229600" cy="512064"/>
          </a:xfrm>
          <a:prstGeom prst="rect">
            <a:avLst/>
          </a:prstGeom>
          <a:solidFill>
            <a:srgbClr val="0F2540"/>
          </a:solidFill>
          <a:ln/>
          <a:effectLst>
            <a:outerShdw sx="100000" sy="100000" kx="0" ky="0" algn="bl" rotWithShape="0" blurRad="88900" dist="25400" dir="8100000">
              <a:srgbClr val="0F2540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4224528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没有任何静默兜底 —— 所有非确定性行为、所有降级、所有异常，都 log / 进报告。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7A88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带走三句话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7772400" cy="713232"/>
          </a:xfrm>
          <a:prstGeom prst="rect">
            <a:avLst/>
          </a:prstGeom>
          <a:solidFill>
            <a:srgbClr val="1B3A5C"/>
          </a:solidFill>
          <a:ln w="9525">
            <a:solidFill>
              <a:srgbClr val="0E7A6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62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17320" y="1234440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一条主线  </a:t>
            </a:r>
            <a:pPr indent="0" marL="0">
              <a:buNone/>
            </a:pPr>
            <a:r>
              <a:rPr lang="en-US" sz="1150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Agentic authoring + Deterministic execution —— 探索期 AI 在环，回归期零 LLM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075688"/>
            <a:ext cx="7772400" cy="713232"/>
          </a:xfrm>
          <a:prstGeom prst="rect">
            <a:avLst/>
          </a:prstGeom>
          <a:solidFill>
            <a:srgbClr val="1B3A5C"/>
          </a:solidFill>
          <a:ln w="9525">
            <a:solidFill>
              <a:srgbClr val="0E7A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03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2075688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三个融合点  </a:t>
            </a:r>
            <a:pPr indent="0" marL="0">
              <a:buNone/>
            </a:pPr>
            <a:r>
              <a:rPr lang="en-US" sz="1150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Kaspresso 给骨架；Healenium / midscene / Marathon / Maestro 各补一块 AI 能力拼图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2916936"/>
            <a:ext cx="7772400" cy="713232"/>
          </a:xfrm>
          <a:prstGeom prst="rect">
            <a:avLst/>
          </a:prstGeom>
          <a:solidFill>
            <a:srgbClr val="1B3A5C"/>
          </a:solidFill>
          <a:ln w="9525">
            <a:solidFill>
              <a:srgbClr val="0E7A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17320" y="2916936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一个哲学  </a:t>
            </a:r>
            <a:pPr indent="0" marL="0">
              <a:buNone/>
            </a:pPr>
            <a:r>
              <a:rPr lang="en-US" sz="1150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留痕不静默 —— 所有非确定性行为都可审计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85800" y="39776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Q&amp;A 备料（docs/10 §9.2)：与 Appium/Maestro 区别 ｜ AI 乱点怎么办 ｜ 自愈掩盖 bug？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8F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flaky 重试放过真 bug？ ｜ 缓存抗 UI 漂移 ｜ 为什么不内置 AI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8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谢谢 · Q&amp;A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AutoTest 技术分享</dc:title>
  <dc:subject>PptxGenJS Presentation</dc:subject>
  <dc:creator>Kai</dc:creator>
  <cp:lastModifiedBy>Kai</cp:lastModifiedBy>
  <cp:revision>1</cp:revision>
  <dcterms:created xsi:type="dcterms:W3CDTF">2026-07-06T09:49:31Z</dcterms:created>
  <dcterms:modified xsi:type="dcterms:W3CDTF">2026-07-06T09:49:31Z</dcterms:modified>
</cp:coreProperties>
</file>