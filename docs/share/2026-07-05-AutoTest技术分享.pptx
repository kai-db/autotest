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0E7A6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Android 真机自动化测试框架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AutoTest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8E2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在环 · 确定性回归的 Android 自动化测试框架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Agentic authoring</a:t>
            </a:r>
            <a:pPr indent="0" marL="0">
              <a:buNone/>
            </a:pPr>
            <a:r>
              <a:rPr lang="en-US" sz="1600" dirty="0">
                <a:solidFill>
                  <a:srgbClr val="7C93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+  </a:t>
            </a:r>
            <a:pPr indent="0" marL="0">
              <a:buNone/>
            </a:pPr>
            <a:r>
              <a:rPr lang="en-US" sz="16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Deterministic execution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2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v1.8.2    |    分享人：Kai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今天讲什么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25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1444752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1444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138074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它是什么 &amp; 解决什么问题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166420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UI 自动化两难 → 双相架构定位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07111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218998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1899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212598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优势在哪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2409444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为什么不内置 AI · 六大焊接机制 · 开源借鉴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81635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5F1"/>
          </a:solidFill>
          <a:ln w="19050">
            <a:solidFill>
              <a:srgbClr val="17A8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293522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7A88B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29352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25880" y="2871216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怎么测试 &amp; 怎么实现 case</a:t>
            </a:r>
            <a:pPr indent="0" marL="0">
              <a:buNone/>
            </a:pPr>
            <a:r>
              <a:rPr lang="en-US" sz="11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★ 重点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31546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模式 A/B · 建 case · A+B 节奏 · 端到端示例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56158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5F1"/>
          </a:solidFill>
          <a:ln w="19050">
            <a:solidFill>
              <a:srgbClr val="17A8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368046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7A88B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36804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325880" y="3616452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测试规范</a:t>
            </a:r>
            <a:pPr indent="0" marL="0">
              <a:buNone/>
            </a:pPr>
            <a:r>
              <a:rPr lang="en-US" sz="11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★ 重点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25880" y="3899916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八条铁律 · 6-Phase 闭环 · 设备阶梯 · 修复走 agent-dev-loop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30682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42569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44256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325880" y="436168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实现原理精华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25880" y="464515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四个机制 + 两条招牌公式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0520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" y="5170932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B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51709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325880" y="5106924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实战：debox HTTPDNS 抓出什么真问题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25880" y="539038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五次测试演进 · 真实工单驱动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79729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3232" y="591616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B3A5C"/>
          </a:solidFill>
          <a:ln/>
        </p:spPr>
      </p:sp>
      <p:sp>
        <p:nvSpPr>
          <p:cNvPr id="43" name="Text 41"/>
          <p:cNvSpPr/>
          <p:nvPr/>
        </p:nvSpPr>
        <p:spPr>
          <a:xfrm>
            <a:off x="713232" y="59161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325880" y="585216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工程哲学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325880" y="6135624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留痕不静默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解决什么问题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UI 自动化的两难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是什么 &amp; 解决什么问题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5440680" cy="2880360"/>
          </a:xfrm>
          <a:prstGeom prst="roundRect">
            <a:avLst>
              <a:gd name="adj" fmla="val 1905"/>
            </a:avLst>
          </a:prstGeom>
          <a:solidFill>
            <a:srgbClr val="FBECEC"/>
          </a:solidFill>
          <a:ln w="12700">
            <a:solidFill>
              <a:srgbClr val="E9C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463040"/>
            <a:ext cx="68580" cy="26974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151790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832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纯脚本（Espresso / Appium）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1920240"/>
            <a:ext cx="4983480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手写定位 + 断言，写得累</a:t>
            </a:r>
            <a:endParaRPr lang="en-US" sz="1300" dirty="0"/>
          </a:p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UI 文案 / 布局一改就挂</a:t>
            </a:r>
            <a:endParaRPr lang="en-US" sz="1300" dirty="0"/>
          </a:p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维护成本随页面增长线性上升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A832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能进 CI，但人被拖死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1371600"/>
            <a:ext cx="5440680" cy="2880360"/>
          </a:xfrm>
          <a:prstGeom prst="roundRect">
            <a:avLst>
              <a:gd name="adj" fmla="val 1905"/>
            </a:avLst>
          </a:prstGeom>
          <a:solidFill>
            <a:srgbClr val="F7EFDE"/>
          </a:solidFill>
          <a:ln w="12700">
            <a:solidFill>
              <a:srgbClr val="E7D6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463040"/>
            <a:ext cx="68580" cy="2697480"/>
          </a:xfrm>
          <a:prstGeom prst="rect">
            <a:avLst/>
          </a:prstGeom>
          <a:solidFill>
            <a:srgbClr val="C8801A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51790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621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 AI 测试（Midscene / Maestro AI）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7376" y="1920240"/>
            <a:ext cx="4983480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自然语言驱动，灵活省事</a:t>
            </a:r>
            <a:endParaRPr lang="en-US" sz="1300" dirty="0"/>
          </a:p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但慢、每次结果不确定</a:t>
            </a:r>
            <a:endParaRPr lang="en-US" sz="1300" dirty="0"/>
          </a:p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无法稳定重复 → 进不了 CI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8A621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好用，但拦在流水线门外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0F2540"/>
          </a:solidFill>
          <a:ln w="19050">
            <a:solidFill>
              <a:srgbClr val="17A8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要么累死人，要么进不了 CI —— 只能二选一？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本框架的解法：</a:t>
            </a:r>
            <a:pPr indent="0" marL="0">
              <a:buNone/>
            </a:pPr>
            <a:r>
              <a:rPr lang="en-US" sz="1500" dirty="0">
                <a:solidFill>
                  <a:srgbClr val="D8E2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在环探索发现问题  →  固化为确定性用例  →  CI 自动回归（案例章给实证）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它是什么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把两者焊接起来（含系统全景）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是什么 &amp; 解决什么问题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298448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EAF5F1"/>
          </a:solidFill>
          <a:ln w="12700">
            <a:solidFill>
              <a:srgbClr val="17A8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29844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一句话定位：</a:t>
            </a:r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在环探索发现问题 → 固化为确定性用例 → CI 自动回归 的闭环测试体系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5074920" cy="2468880"/>
          </a:xfrm>
          <a:prstGeom prst="roundRect">
            <a:avLst>
              <a:gd name="adj" fmla="val 2222"/>
            </a:avLst>
          </a:prstGeom>
          <a:solidFill>
            <a:srgbClr val="F0F5FA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240280"/>
            <a:ext cx="68580" cy="2286000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295144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AI 在环（authoring）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6384" y="2697480"/>
            <a:ext cx="461772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+ mobile-mcp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看屏幕 / 规划 / 判定 / 读知识库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产出：用例缓存 + App 知识库</a:t>
            </a:r>
            <a:endParaRPr lang="en-US" sz="1200" dirty="0"/>
          </a:p>
          <a:p>
            <a:pPr algn="l" lvl="1" marL="355600" indent="-177800">
              <a:lnSpc>
                <a:spcPct val="100000"/>
              </a:lnSpc>
              <a:spcAft>
                <a:spcPts val="700"/>
              </a:spcAft>
              <a:buSzPct val="100000"/>
              <a:buChar char="–"/>
            </a:pPr>
            <a:r>
              <a:rPr lang="en-US" sz="11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路线 A：自然语言→规划→操控真机→截图理解→判定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42432" y="3063240"/>
            <a:ext cx="685800" cy="640080"/>
          </a:xfrm>
          <a:prstGeom prst="rightArrow">
            <a:avLst/>
          </a:prstGeom>
          <a:solidFill>
            <a:srgbClr val="17A88B"/>
          </a:solidFill>
          <a:ln w="12700">
            <a:solidFill>
              <a:srgbClr val="17A8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2148840"/>
            <a:ext cx="5074920" cy="2468880"/>
          </a:xfrm>
          <a:prstGeom prst="roundRect">
            <a:avLst>
              <a:gd name="adj" fmla="val 2222"/>
            </a:avLst>
          </a:prstGeom>
          <a:solidFill>
            <a:srgbClr val="F0F5FA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2240280"/>
            <a:ext cx="68580" cy="228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803136" y="2295144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确定性执行（execution）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03136" y="2697480"/>
            <a:ext cx="461772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AAR：零 LLM 运行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缓存回放 + 三级自愈兜底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报告回流（JSON / HTML）</a:t>
            </a:r>
            <a:endParaRPr lang="en-US" sz="1200" dirty="0"/>
          </a:p>
          <a:p>
            <a:pPr algn="l" lvl="1" marL="355600" indent="-177800">
              <a:lnSpc>
                <a:spcPct val="100000"/>
              </a:lnSpc>
              <a:spcAft>
                <a:spcPts val="700"/>
              </a:spcAft>
              <a:buSzPct val="100000"/>
              <a:buChar char="–"/>
            </a:pPr>
            <a:r>
              <a:rPr lang="en-US" sz="11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路线 B：git push→connectedAndroidTest→报告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28032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937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核心理念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285232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 LLM 能力只定义接口、外部注入；CI 期不注入 → 自动降级为确定性行为并留痕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2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闭环 = AI 发现 bug → 固化用例 → 进 CI 回归网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一组数字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 &amp; 技术栈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是什么 &amp; 解决什么问题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0F2540"/>
          </a:solidFill>
          <a:ln w="12700">
            <a:solidFill>
              <a:srgbClr val="17A8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481328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A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2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源码文件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70632" y="13716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0F2540"/>
          </a:solidFill>
          <a:ln w="12700">
            <a:solidFill>
              <a:srgbClr val="17A8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1481328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A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770632" y="2212848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2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92624" y="13716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0F2540"/>
          </a:solidFill>
          <a:ln w="12700">
            <a:solidFill>
              <a:srgbClr val="17A8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1481328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A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~5846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992624" y="2212848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2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 main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14616" y="13716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0F2540"/>
          </a:solidFill>
          <a:ln w="12700">
            <a:solidFill>
              <a:srgbClr val="17A8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4616" y="1481328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A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214616" y="2212848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2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条单测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436608" y="13716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0F2540"/>
          </a:solidFill>
          <a:ln w="12700">
            <a:solidFill>
              <a:srgbClr val="17A8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36608" y="1481328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A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436608" y="2212848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2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测试文件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28529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AAR 发布 mavenLocal，供被测项目依赖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71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类别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技术选型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语言 / 构建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Kotlin 2.0.21 · Gradle + AGP 8.9 / 8.7.3 · minSdk 24 · compileSdk 35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UI 测试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Espresso 3.5.1 · UiAutomator 2.3.0 · JUnit4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 / 设备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Gson · adb shell（免 root）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AI 在环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Claude Code + mobile-mcp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010412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0104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优势 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为什么不在 App 里内置 AI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优势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5440680" cy="4480560"/>
          </a:xfrm>
          <a:prstGeom prst="roundRect">
            <a:avLst>
              <a:gd name="adj" fmla="val 1224"/>
            </a:avLst>
          </a:prstGeom>
          <a:solidFill>
            <a:srgbClr val="FBECEC"/>
          </a:solidFill>
          <a:ln w="12700">
            <a:solidFill>
              <a:srgbClr val="E9C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508760"/>
            <a:ext cx="68580" cy="42976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156362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832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框架内调 AI API（已废弃）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1965960"/>
            <a:ext cx="4983480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要在 App 里发 HTTP 调模型</a:t>
            </a:r>
            <a:endParaRPr lang="en-US" sz="13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看不到屏幕，只能靠传参描述</a:t>
            </a:r>
            <a:endParaRPr lang="en-US" sz="13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无法灵活交互 / 追问 / 改判</a:t>
            </a:r>
            <a:endParaRPr lang="en-US" sz="13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改测试逻辑要动 App 代码并重打包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1417320"/>
            <a:ext cx="5440680" cy="4480560"/>
          </a:xfrm>
          <a:prstGeom prst="roundRect">
            <a:avLst>
              <a:gd name="adj" fmla="val 1224"/>
            </a:avLst>
          </a:prstGeom>
          <a:solidFill>
            <a:srgbClr val="EAF5F1"/>
          </a:solidFill>
          <a:ln w="12700">
            <a:solidFill>
              <a:srgbClr val="BFE0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508760"/>
            <a:ext cx="68580" cy="4297680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56362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+ mobile-mcp（现行）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7376" y="1965960"/>
            <a:ext cx="4983480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直接看设备截图，像人一样判断</a:t>
            </a:r>
            <a:endParaRPr lang="en-US" sz="13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自然语言灵活对话、随时追问改判</a:t>
            </a:r>
            <a:endParaRPr lang="en-US" sz="13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 mobile-mcp / adb 操控设备</a:t>
            </a:r>
            <a:endParaRPr lang="en-US" sz="130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完全不改 App 代码，纯外部驱动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010412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0104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优势 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六大机制把 AI 与确定性焊接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优势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机制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AI 在环时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CI 执行时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三级自愈定位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注入 AI 兜底（L3）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不注入 → 降级到 L2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固化桥缓存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READ_WRITE 探索写入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READ_ONLY 拒写留痕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AI 软断言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注入评估器判定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SKIPPED 留痕不阻断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统计化重试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历史通过率算预算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同一确定性策略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双链拦截器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全程观察 + 恢复取证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同链路留证据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根因签名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AI 读结构化根因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自动回填报告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504688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0F2540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504688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关键原则：</a:t>
            </a:r>
            <a:pPr indent="0" marL="0">
              <a:buNone/>
            </a:pPr>
            <a:r>
              <a:rPr lang="en-US" sz="1350" dirty="0">
                <a:solidFill>
                  <a:srgbClr val="E7EE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只在 authoring 在环；execution 不注入、自动降级并留痕。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010412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0104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优势 ③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站在巨人肩上：开源借鉴全景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优势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91272"/>
              </a:tblGrid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开源项目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借来的那块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Kaspresso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双链拦截器 / DSL / Device API —— 架构骨架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Healenium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指纹自愈 +「静默自愈掩盖回归」的教训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midscene.js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AI 跑一次 → 缓存 → 回放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Marathon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flakiness 是统计问题，不是玄学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Maestro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assertWithAI optional 的设计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AppAgent / Mobile-Agent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知识沉淀 + 危险操作 pre-action 比对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话术：Kaspresso 给骨架，其余各给一块器官 —— 自愈、回放、统计重试、AI 断言。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010412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0104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优势 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和同类工具的区别（Q&amp;A 式）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优势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463040"/>
            <a:ext cx="73152" cy="896112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490472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Appium / Maestro 有何不同？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1901952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它们要么纯脚本、要么纯 AI；我们「AI 探索 + 确定性回放」双相，CI 期零 LLM。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587752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79192"/>
            <a:ext cx="73152" cy="896112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70662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乱点怎么办？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118104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dangerous-ops pre-action 比对 + 代码级点击网关 + 禁清数据 / 登出 / 切环境。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03904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95344"/>
            <a:ext cx="73152" cy="896112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22776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自愈会掩盖真 bug 吗？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334256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自愈命中必生成事件进报告，强制人审 —— 不静默。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020056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111496"/>
            <a:ext cx="73152" cy="896112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138928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UI 改了缓存会挂吗？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5550408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 </a:t>
            </a:r>
            <a:pPr indent="0" marL="0">
              <a:buNone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缓存存的是元素快照而非选择器，回放时走三级自愈重建。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403604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4036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怎么测试 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两种测试模式（先选对）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怎么测试 &amp; 实现 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5440680" cy="3977640"/>
          </a:xfrm>
          <a:prstGeom prst="roundRect">
            <a:avLst>
              <a:gd name="adj" fmla="val 1379"/>
            </a:avLst>
          </a:prstGeom>
          <a:solidFill>
            <a:srgbClr val="EAF5F1"/>
          </a:solidFill>
          <a:ln w="12700">
            <a:solidFill>
              <a:srgbClr val="BFE0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463040"/>
            <a:ext cx="68580" cy="3794760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151790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· AI 驱动黑盒（主力）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86384" y="1920240"/>
            <a:ext cx="498348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用 mobile-mcp / adb 驱动真机 + 读日志判断</a:t>
            </a:r>
            <a:endParaRPr lang="en-US" sz="1250" dirty="0"/>
          </a:p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runs/*/cases.md 逐条执行</a:t>
            </a:r>
            <a:endParaRPr lang="en-US" sz="1250" dirty="0"/>
          </a:p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适合：探索 / 跨系统 / 网络注入 / 需人类级判断</a:t>
            </a:r>
            <a:endParaRPr lang="en-US" sz="1250" dirty="0"/>
          </a:p>
          <a:p>
            <a:pPr algn="l" lvl="1" marL="355600" indent="-1778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产物：results.md + 证据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9632" y="1371600"/>
            <a:ext cx="5440680" cy="3977640"/>
          </a:xfrm>
          <a:prstGeom prst="roundRect">
            <a:avLst>
              <a:gd name="adj" fmla="val 1379"/>
            </a:avLst>
          </a:prstGeom>
          <a:solidFill>
            <a:srgbClr val="F0F5FA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463040"/>
            <a:ext cx="68580" cy="3794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51790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· 框架 instrumented（可回归）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37376" y="1920240"/>
            <a:ext cx="4983480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 com.autotest:autotest AAR 写 Espresso / UiAutomator 用例</a:t>
            </a:r>
            <a:endParaRPr lang="en-US" sz="1250" dirty="0"/>
          </a:p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设备内自动跑（自愈定位 + DSL + AI 软断言 + 报告）</a:t>
            </a:r>
            <a:endParaRPr lang="en-US" sz="1250" dirty="0"/>
          </a:p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适合：确定性 UI 冒烟 / 回归 / CI 化</a:t>
            </a:r>
            <a:endParaRPr lang="en-US" sz="1250" dirty="0"/>
          </a:p>
          <a:p>
            <a:pPr algn="l" lvl="1" marL="355600" indent="-177800">
              <a:lnSpc>
                <a:spcPct val="100000"/>
              </a:lnSpc>
              <a:spcAft>
                <a:spcPts val="900"/>
              </a:spcAft>
              <a:buSzPct val="100000"/>
              <a:buChar char="–"/>
            </a:pPr>
            <a:r>
              <a:rPr lang="en-US" sz="125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产物：report_*.json + 失败截图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9333"/>
            </a:avLst>
          </a:prstGeom>
          <a:solidFill>
            <a:srgbClr val="0F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321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怎么选：</a:t>
            </a:r>
            <a:pPr indent="0" marL="0">
              <a:buNone/>
            </a:pPr>
            <a:r>
              <a:rPr lang="en-US" sz="1300" dirty="0">
                <a:solidFill>
                  <a:srgbClr val="E7EE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新功能先 A 快速探索 → 把稳定 / 可重复 / 值得每次回归的关键路径沉淀成 B。互补，不是二选一。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860804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8608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怎么实现 case 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两种模式各怎么建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怎么测试 &amp; 实现 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132"/>
            </a:avLst>
          </a:prstGeom>
          <a:solidFill>
            <a:srgbClr val="EAF5F1"/>
          </a:solidFill>
          <a:ln w="12700">
            <a:solidFill>
              <a:srgbClr val="BFE0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463040"/>
            <a:ext cx="68580" cy="4663440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151790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模式 A · 建一次 run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86384" y="1920240"/>
            <a:ext cx="4983480" cy="4187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拷模板建 runs/YYYY-MM-DD-功能名/（cases.md + results.md）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写 cases.md：项目信息表 + 用例表（编号 / 用例 / 步骤 / 验证 / 优先级 P0-P2）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先读 app-knowledge/ 拿真实元素、弹窗、危险操作 —— 别臆造 selector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标注前置条件、故障注入手段、危险红线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1371600"/>
            <a:ext cx="5440680" cy="4846320"/>
          </a:xfrm>
          <a:prstGeom prst="roundRect">
            <a:avLst>
              <a:gd name="adj" fmla="val 1132"/>
            </a:avLst>
          </a:prstGeom>
          <a:solidFill>
            <a:srgbClr val="F0F5FA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463040"/>
            <a:ext cx="68580" cy="46634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51790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模式 B · 写一条用例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37376" y="1920240"/>
            <a:ext cx="4983480" cy="4187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继承 DeBoxBaseTest（已封装启动 + 关弹窗 + 登录 preflight + selector 常量），不直接继承 BaseUiTest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scenario("名"){ step(...){ } }.run() DSL；定位用 byText / byResId / byDesc + locator.click（三级自愈）；断言 AppAssertions / aiAsserter.assertWithAi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E0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只读 + 危险红线：不点转账 / 签名 / 删除 / 登出 / 切环境，有副作用要复位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元素文案 / id 用真机探测确认（范例 DeBoxSmokeTest.kt）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860804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8608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怎么实现 case ③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A+B 结合节奏 &amp; 谁留 A、谁沉淀成 B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怎么测试 &amp; 实现 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298448"/>
            <a:ext cx="11091672" cy="603504"/>
          </a:xfrm>
          <a:prstGeom prst="roundRect">
            <a:avLst>
              <a:gd name="adj" fmla="val 9091"/>
            </a:avLst>
          </a:prstGeom>
          <a:solidFill>
            <a:srgbClr val="EAF5F1"/>
          </a:solidFill>
          <a:ln w="12700">
            <a:solidFill>
              <a:srgbClr val="17A8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29844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= 每个新需求一次性的探索 + 发现；B = 累积的回归网 —— A 打头、B 沉淀、之后 B 兜底回归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0F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057400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①A 先行探索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6D5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 cases.md 黑盒跑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45536" y="2057400"/>
            <a:ext cx="274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74136" y="2057400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0F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3419856" y="2057400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②发现 Bug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6D5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agent-dev-loop 修 → A 回归全 PASS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71032" y="2057400"/>
            <a:ext cx="274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2057400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0F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6245352" y="2057400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③筛选沉淀 A→B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6D5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确定+值得回归+纯UI断言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96528" y="2057400"/>
            <a:ext cx="274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25128" y="2057400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0F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9070848" y="2057400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④收尾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6D5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知识库回写 + 开关复位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7315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46120"/>
                <a:gridCol w="2514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判据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留在 A（黑盒探索）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沉淀成 B（回归）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确定性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时序 / 一次性排障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可稳定复现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判断类型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需人类级判断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纯 UI 状态断言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依赖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网络 / DNS 注入 / 后端 / 验证码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App 内已登录 UI 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回归价值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覆盖一次即可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每次改动都想复跑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8092440" y="3291840"/>
            <a:ext cx="3547872" cy="2304288"/>
          </a:xfrm>
          <a:prstGeom prst="roundRect">
            <a:avLst>
              <a:gd name="adj" fmla="val 2381"/>
            </a:avLst>
          </a:prstGeom>
          <a:solidFill>
            <a:srgbClr val="F0F5FA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92440" y="3383280"/>
            <a:ext cx="68580" cy="212140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27" name="Text 24"/>
          <p:cNvSpPr/>
          <p:nvPr/>
        </p:nvSpPr>
        <p:spPr>
          <a:xfrm>
            <a:off x="8330184" y="34381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两条原则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330184" y="3840480"/>
            <a:ext cx="309067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发现的 bug，修复后补一条 B 回归用例（防复发，最高价值沉淀点）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是越攒越密的金字塔底座，A 是一次性尖端探索 —— B 越密 A 越省力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860804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8608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怎么实现 case 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端到端示例：新功能「资产页刷新」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怎么测试 &amp; 实现 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15910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1591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1472184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 case（A）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1472184"/>
            <a:ext cx="7406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runs/2026-07-10-资产页刷新/cases.md，读 app-knowledge 拿元素，写 P0「进资产页→下拉刷新→数据更新且无 crash」（只读）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340864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2560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2441448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驱动跑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2441448"/>
            <a:ext cx="7406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一句「按该 cases.md 跑测试」→ 读知识库 → 确认环境 → 逐条执行 → 危险比对 → results.md（长测 /loop 5m 监工）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310128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" y="35295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5252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3529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25880" y="3410712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 FAIL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3410712"/>
            <a:ext cx="7406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建 debox docs/implementation/2026-07-10-fix-asset-refresh/ → plan → Codex review → 修 → Codex review → 回写 → 回归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279392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" y="44988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A65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4498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325880" y="4379976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沉淀回归用例（B）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14800" y="4379976"/>
            <a:ext cx="7406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把稳定的「资产页加载」关键路径写成 AssetPageSmokeTest : DeBoxBaseTest，真机验通过纳入回归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248656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" y="54681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" y="5468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325880" y="5349240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收尾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114800" y="5349240"/>
            <a:ext cx="7406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知识库补新元素；可泛化坑写 lessons；autotest.enabled 复位 false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312164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3121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怎么跑起来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两种模式的启动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怎么测试 &amp; 实现 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132"/>
            </a:avLst>
          </a:prstGeom>
          <a:solidFill>
            <a:srgbClr val="EAF5F1"/>
          </a:solidFill>
          <a:ln w="12700">
            <a:solidFill>
              <a:srgbClr val="BFE0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463040"/>
            <a:ext cx="68580" cy="4663440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151790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模式 A：一句话，AI 全自动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1920240"/>
            <a:ext cx="4983480" cy="4187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「按 runs/2026-07-XX-功能/cases.md 跑测试」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先读知识库（元素 / 弹窗 / 危险 / 设备）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确认环境（选设备→在线→保活→噪声预检→App 起）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逐条执行（重置 + 截图验证）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危险操作 pre-action 比对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先记录再修复（写 results.md）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 /loop 5m 监工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⑦ 探索产物回写知识库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9632" y="1371600"/>
            <a:ext cx="5440680" cy="4846320"/>
          </a:xfrm>
          <a:prstGeom prst="roundRect">
            <a:avLst>
              <a:gd name="adj" fmla="val 1132"/>
            </a:avLst>
          </a:prstGeom>
          <a:solidFill>
            <a:srgbClr val="1E2A3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151790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模式 B：五步命令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37376" y="19659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C6D5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① local.properties：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7A8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autotest.enabled=true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C6D5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（默认 off · CICD 不配 → 绝不进正式包）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C6D5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② 选设备（模拟器优先 · 已登录 · 停在前置页）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17A8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③ ./gradlew :app:connectedAppDebugAndroidTest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C6D5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④ 报告：/sdcard/Android/data/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C6D5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com.tm.security.wallet/files/autotest/report_*.json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C6D5E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⑤ 测完 autotest.enabled 复位 false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403604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4036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测试规范 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八条铁律 + 危险红线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测试规范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904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" y="1371600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全程自主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1371600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4904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03136" y="1371600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cases.md 用例执行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066544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218541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185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52144" y="2066544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/loop 5m 监工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99632" y="2066544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18541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185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03136" y="2066544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最小人工介入（白名单五项）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2761488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28803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52144" y="2761488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修复走 agent-dev-loop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99632" y="2761488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28803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03136" y="2761488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先读知识库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3456432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" y="357530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52144" y="3456432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危险操作 pre-action 比对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99632" y="3456432"/>
            <a:ext cx="54406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357530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03136" y="3456432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模拟器优先（L1→L2→L3）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8640" y="4279392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BECEC"/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438912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2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危险红线（钱包 App 不可逆 · 硬）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7240" y="473659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2A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不清数据 · 不卸载 · 不登出 · 不切环境 · 不点转账 / 签名 / 删除 —— 宁可用例 FAIL 也不误点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不写 secret：token / 私钥 / 助记词 / 密钥不进代码 · 日志 · commit · 断言（local.properties 存密钥，gitignored）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403604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4036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测试规范 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监工 6-Phase 闭环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测试规范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53312"/>
            <a:ext cx="1109167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63040"/>
            <a:ext cx="1234440" cy="420624"/>
          </a:xfrm>
          <a:prstGeom prst="roundRect">
            <a:avLst>
              <a:gd name="adj" fmla="val 10870"/>
            </a:avLst>
          </a:prstGeom>
          <a:solidFill>
            <a:srgbClr val="0F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146304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057400" y="13533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确认环境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135331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设备阶梯选设备 → 在线 → 保活 → 噪声预检 → App 可启动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066544"/>
            <a:ext cx="1109167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176272"/>
            <a:ext cx="1234440" cy="420624"/>
          </a:xfrm>
          <a:prstGeom prst="roundRect">
            <a:avLst>
              <a:gd name="adj" fmla="val 10870"/>
            </a:avLst>
          </a:prstGeom>
          <a:solidFill>
            <a:srgbClr val="0F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17627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057400" y="2066544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全量测试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2066544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P0 → P1 → P2 遍历，每条重置 + 操作 + 验证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2779776"/>
            <a:ext cx="1109167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2889504"/>
            <a:ext cx="1234440" cy="420624"/>
          </a:xfrm>
          <a:prstGeom prst="roundRect">
            <a:avLst>
              <a:gd name="adj" fmla="val 10870"/>
            </a:avLst>
          </a:prstGeom>
          <a:solidFill>
            <a:srgbClr val="0F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288950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057400" y="2779776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更新文档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23360" y="2779776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本轮结果全写 results.md（先记录再修复）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493008"/>
            <a:ext cx="1109167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602736"/>
            <a:ext cx="1234440" cy="420624"/>
          </a:xfrm>
          <a:prstGeom prst="roundRect">
            <a:avLst>
              <a:gd name="adj" fmla="val 10870"/>
            </a:avLst>
          </a:prstGeom>
          <a:solidFill>
            <a:srgbClr val="0F254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3602736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4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057400" y="349300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全部修复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023360" y="3493008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走 agent-dev-loop：建目录 → plan → Codex → 实现 → Codex → 回写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109167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" y="4315968"/>
            <a:ext cx="1234440" cy="420624"/>
          </a:xfrm>
          <a:prstGeom prst="roundRect">
            <a:avLst>
              <a:gd name="adj" fmla="val 10870"/>
            </a:avLst>
          </a:prstGeom>
          <a:solidFill>
            <a:srgbClr val="0F2540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431596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5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057400" y="4206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全量回归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023360" y="42062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全量重跑；仍 FAIL 回 P3，全 PASS 进 P6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919472"/>
            <a:ext cx="11091672" cy="640080"/>
          </a:xfrm>
          <a:prstGeom prst="roundRect">
            <a:avLst>
              <a:gd name="adj" fmla="val 7143"/>
            </a:avLst>
          </a:prstGeom>
          <a:solidFill>
            <a:srgbClr val="EAF5F1"/>
          </a:solidFill>
          <a:ln w="19050">
            <a:solidFill>
              <a:srgbClr val="17A8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5029200"/>
            <a:ext cx="1234440" cy="420624"/>
          </a:xfrm>
          <a:prstGeom prst="roundRect">
            <a:avLst>
              <a:gd name="adj" fmla="val 10870"/>
            </a:avLst>
          </a:prstGeom>
          <a:solidFill>
            <a:srgbClr val="17A88B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" y="502920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6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057400" y="491947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全量验收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023360" y="491947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不改码完整跑一遍；全 PASS 结束，有 FAIL 回迭代修复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三条关键：每轮全量跑（⏸️ 不算跑完）· 先记录再修复 · 验收是独立全新测试（不就地修）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403604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4036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测试规范 ③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设备阶梯（emulator-first）+ 人工白名单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测试规范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3602736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9050">
            <a:solidFill>
              <a:srgbClr val="17A8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536192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17A88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3619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151790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普通模拟器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00200" y="1783080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2148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UI 流 / 导航 / 回归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3108" y="1371600"/>
            <a:ext cx="3602736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5988" y="1536192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475988" y="153619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44668" y="151790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root 模拟器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344668" y="1783080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注入层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94276" y="2148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DNS / iptables / 回环故障注入 · 网络切换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37576" y="1371600"/>
            <a:ext cx="3602736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9050">
            <a:solidFill>
              <a:srgbClr val="5A6B7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0456" y="1536192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5A6B7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0456" y="153619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89136" y="151790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真机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089136" y="1783080"/>
            <a:ext cx="2414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复核层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38744" y="2148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厂商特性 / 真实蜂窝 / 最终验收抽核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2004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取最低可行层级；真机不在线不阻塞（标 ⏸️-待真机，其余照跑）。模拟器不锁屏、可无人值守 —— 真机安全锁屏是历史上最大人工介入源。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840480"/>
            <a:ext cx="11091672" cy="2331720"/>
          </a:xfrm>
          <a:prstGeom prst="roundRect">
            <a:avLst>
              <a:gd name="adj" fmla="val 2745"/>
            </a:avLst>
          </a:prstGeom>
          <a:solidFill>
            <a:srgbClr val="0F2540"/>
          </a:solidFill>
          <a:ln w="12700">
            <a:solidFill>
              <a:srgbClr val="17A8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人工介入白名单 —— 唯一合法五项（白名单外人工 = 流程缺陷，回写 lessons）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43484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7EE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验证码 / 短信 / 2FA（snapshot 化后趋近一次性）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7EE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真机首次解锁（安全锁屏技术上不可绕过）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7EE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危险操作确认（dangerous-ops 命中且用例明确要求执行）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7EE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外部系统（运维 / 后端）修复动作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E7EE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secret 注入（禁止 AI 索要明文进对话 / 日志 / 文档）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403604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4036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测试规范 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bug 修复原则 + 修复走 agent-dev-loop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测试规范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71600"/>
            <a:ext cx="4937760" cy="3794760"/>
          </a:xfrm>
          <a:prstGeom prst="roundRect">
            <a:avLst>
              <a:gd name="adj" fmla="val 1446"/>
            </a:avLst>
          </a:prstGeom>
          <a:solidFill>
            <a:srgbClr val="F0F5FA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463040"/>
            <a:ext cx="68580" cy="36118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1517904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bug 修复四原则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6384" y="1920240"/>
            <a:ext cx="4480560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证据驱动 —— 根因基于日志验证，不凭猜</a:t>
            </a:r>
            <a:endParaRPr lang="en-US" sz="125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不引入新 bug —— 改前评估影响面，改后回归</a:t>
            </a:r>
            <a:endParaRPr lang="en-US" sz="125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UI / 交互正常</a:t>
            </a:r>
            <a:endParaRPr lang="en-US" sz="1250" dirty="0"/>
          </a:p>
          <a:p>
            <a:pPr algn="l" marL="177800" indent="-177800">
              <a:lnSpc>
                <a:spcPct val="100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最小改动 —— 只改必须改的，不顺手重构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87568" y="1371600"/>
            <a:ext cx="5952744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9050">
            <a:solidFill>
              <a:srgbClr val="17A8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148132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为什么不直接改代码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907024" y="1810512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直接改 = 无独立 review、无 plan 基线、无 VERDICT 把关，易引入回归、漏验证根因。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07024" y="23957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19" name="Text 17"/>
          <p:cNvSpPr/>
          <p:nvPr/>
        </p:nvSpPr>
        <p:spPr>
          <a:xfrm>
            <a:off x="5907024" y="2395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235915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 docs/implementation/YYYY-MM-DD-动词-对象/ 任务目录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07024" y="29077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22" name="Text 20"/>
          <p:cNvSpPr/>
          <p:nvPr/>
        </p:nvSpPr>
        <p:spPr>
          <a:xfrm>
            <a:off x="5907024" y="2907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287121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 plan → Codex 只读 plan review（PASS 才落 Accepted Plan 基线）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07024" y="34198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25" name="Text 23"/>
          <p:cNvSpPr/>
          <p:nvPr/>
        </p:nvSpPr>
        <p:spPr>
          <a:xfrm>
            <a:off x="5907024" y="3419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7648" y="33832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按基线实现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07024" y="39319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28" name="Text 26"/>
          <p:cNvSpPr/>
          <p:nvPr/>
        </p:nvSpPr>
        <p:spPr>
          <a:xfrm>
            <a:off x="5907024" y="3931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27648" y="389534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只读 impl review（无 Critical、无遗留 Important 才收尾）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07024" y="44439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31" name="Text 29"/>
          <p:cNvSpPr/>
          <p:nvPr/>
        </p:nvSpPr>
        <p:spPr>
          <a:xfrm>
            <a:off x="5907024" y="44439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27648" y="440740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回写 results.md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0F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硬规则：</a:t>
            </a:r>
            <a:pPr indent="0" marL="0">
              <a:buNone/>
            </a:pPr>
            <a:r>
              <a:rPr lang="en-US" sz="1250" dirty="0">
                <a:solidFill>
                  <a:srgbClr val="E7EE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VERDICT 驱动状态机 · findings 只报 confidence≥80 的 Critical/Important · 循环上限（plan 3 / impl 5 / consult 3）超限升级用户 · Codex 全程只读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原理精华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四个机制 + 两条招牌公式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原理精华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298448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389888"/>
            <a:ext cx="68580" cy="2103120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144475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三级降级定位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" y="1847088"/>
            <a:ext cx="49834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确定性选择器（sealed AST，DNF 展开）→ L2 指纹自愈 → L3 AI 兜底（可选）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加权相似度 s = 0.40·resId + 0.30·text + 0.20·desc + 0.10·class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阈值 0.75 以下宁降级不硬认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9632" y="1298448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389888"/>
            <a:ext cx="68580" cy="21031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44475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固化桥（探索 → 零 LLM 回放）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37376" y="1847088"/>
            <a:ext cx="49834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探索 → JSON 缓存回放 → Kotlin 白盒（成本递减、稳定性递增）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缓存存元素快照而非裸选择器 → 元素微调不破缓存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回放 CLICK 同样过危险守卫；空用例/空缓存必 FAIL 防假绿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40480"/>
            <a:ext cx="68580" cy="2103120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8953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统计化重试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6384" y="4297680"/>
            <a:ext cx="49834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n = ⌈ln(1−T) / ln(1−p)⌉ （p=历史通过率，T=目标成功率）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p=1 → 0 次不浪费 · p=0 → 封顶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只重试 UI 时序类异常，刻意排除 NPE —— 重试不掩盖真 bug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99632" y="374904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3840480"/>
            <a:ext cx="68580" cy="21031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5" name="Text 23"/>
          <p:cNvSpPr/>
          <p:nvPr/>
        </p:nvSpPr>
        <p:spPr>
          <a:xfrm>
            <a:off x="6437376" y="38953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安全网关 + 约束即代码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37376" y="4297680"/>
            <a:ext cx="49834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DangerousOpsGuard 全部点击入口统一过闸，命中 fail-closed 阻断 + 留证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b="1" dirty="0">
                <a:solidFill>
                  <a:srgbClr val="A832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L-002：确定性执行路径必须代码级守卫（与危险红线呼应）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TestSuite 只暴露 runAll() · MonitorMode 硬超时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实战案例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debox HTTPDNS 抓出了什么真问题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 实战案例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1691640"/>
                <a:gridCol w="1737360"/>
                <a:gridCol w="446227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#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日期 / 主题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阶段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规模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标志性发现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06-12 阿里云 HTTPDNS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接入验证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67 条用例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🔴 配置契约不匹配 → HTTPDNS 静默失效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06-13 域名动态切换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边界诚实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26 条用例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🟡 全不可达时误清已生效域名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06-23 深度测试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首次全链路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50+81 自动化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🟡 EMAS 控制台未托管生产域名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06-25 自愈鲁棒性增强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对抗性加固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A13+B6+D10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🔴 冷启后持久化域名不回灌主 API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07-01 回环 bogon 兜底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真实工单驱动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50 条用例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🔴 回环污染绕过全部自愈（+ BUG-002）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0F2540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主线：接入验证 → 深度实测 → 主动加固 → 真实工单兜底，每一轮逼出更深一层的真问题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010412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0104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 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拿真实配置逼出 Critical（06-12）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 实战案例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debox 首次接入阿里云 HTTPDNS → 按 diff 机械映射出 67 条分层用例；真机手法全部可逆、不碰生产数据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11091672" cy="160020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9842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2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🔴 BUG-001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3317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线上 OSS 是扁平格式，实现只读嵌套段 → 配置被当「段缺失」忽略，HTTPDNS 永不激活。单测 / 本地模拟都用对格式 —— 全绿掩盖，直到拿真实线上配置核对才暴露。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EAF5F1"/>
          </a:solidFill>
          <a:ln w="12700">
            <a:solidFill>
              <a:srgbClr val="BFE0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03320"/>
            <a:ext cx="68580" cy="1188720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758184"/>
            <a:ext cx="10634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闭环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6384" y="4160520"/>
            <a:ext cx="1063447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报告 + 给修复选项 → 用户决策 → 代码兼容扁平格式并回归；修复后坏 DNS 下成功请求 7 → 19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生产环境又逼出第二层（域名未加 EMAS 控制台，FOUND-01），运维加配后兜底真正打通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0F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1663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洞察（归纳）：</a:t>
            </a:r>
            <a:pPr indent="0" marL="0">
              <a:buNone/>
            </a:pPr>
            <a:r>
              <a:rPr lang="en-US" sz="1300" dirty="0">
                <a:solidFill>
                  <a:srgbClr val="E7EE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测试环境逼出代码缺陷，正式环境逼出外部配置缺陷 —— 都是「拿真实环境配置去核对」才暴露的。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010412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0104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 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真实工单：回环污染兜底（07-01）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 实战案例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2588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BECEC"/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4173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32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📋 工单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20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用户手机网络打不开 —— 系统 DNS 把域名解析到回环（::1/ 127.0.0.1），两套自愈全失效，16 小时重启 25 次无效。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EAF5F1"/>
          </a:solidFill>
          <a:ln w="12700">
            <a:solidFill>
              <a:srgbClr val="BFE0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06040"/>
            <a:ext cx="68580" cy="1188720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2660904"/>
            <a:ext cx="10634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7A6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修复与复测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86384" y="3063240"/>
            <a:ext cx="1063447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客户端识别并过滤回环 / bogon 解析结果 → 触发域名升级链（P0-A isRoutable）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root 模拟器精确注入回环复测，第 1 轮 PASS 35 / FAIL 0，污染下不再连回环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91672" cy="2148840"/>
          </a:xfrm>
          <a:prstGeom prst="roundRect">
            <a:avLst>
              <a:gd name="adj" fmla="val 2553"/>
            </a:avLst>
          </a:prstGeom>
          <a:solidFill>
            <a:srgbClr val="F0F5FA"/>
          </a:solidFill>
          <a:ln w="12700">
            <a:solidFill>
              <a:srgbClr val="DCE9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14800"/>
            <a:ext cx="68580" cy="1965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169664"/>
            <a:ext cx="10634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BUG-002 四步定位（走 agent-dev-loop + Codex 读审）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86384" y="4572000"/>
            <a:ext cx="1063447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Track A 读源码证伪「不轮换」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Track B 备用域名曾 CNAME 同源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Track C 备用证书未配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3342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Track D WS 路由 400 → 运维修复后 101 GREEN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b="1" dirty="0">
                <a:solidFill>
                  <a:srgbClr val="0F254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结论：客户端 failover 健全，阻断全在服务端 / 运维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7A88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工程哲学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362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留痕不静默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37215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 / 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547104"/>
            <a:ext cx="11185855" cy="0"/>
          </a:xfrm>
          <a:prstGeom prst="line">
            <a:avLst/>
          </a:prstGeom>
          <a:noFill/>
          <a:ln w="12700">
            <a:solidFill>
              <a:srgbClr val="DCE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AutoTest · Agentic authoring + Deterministic execution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31175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⑦ 工程哲学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4072"/>
              </a:tblGrid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场景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怎么留痕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自愈命中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生成 LocatorEvent 进报告，要求人审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AI 断言无评估器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标 SKIPPED 留痕，不静默跳过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拦截器自身异常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safely{} 吞掉但留痕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缓存 READ_ONLY 拒写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记录拒写事件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根因分析失败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降级，不影响失败记录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flaky 误判风险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24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保守 HARD_FAIL，不放过真 bug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504688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0F2540"/>
          </a:solidFill>
          <a:ln w="12700">
            <a:solidFill>
              <a:srgbClr val="17A8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5504688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没有任何静默兜底 —— 所有非确定性行为、降级、异常，都 log / 进报告。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12191695" cy="45720"/>
          </a:xfrm>
          <a:prstGeom prst="rect">
            <a:avLst/>
          </a:prstGeom>
          <a:solidFill>
            <a:srgbClr val="17A88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58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Agentic authoring  +  Deterministic execution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7190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2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在环探索发现，固化为确定性用例，进 CI 回归。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怎么用起来 · 方法论 4 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035808"/>
            <a:ext cx="2587752" cy="1005840"/>
          </a:xfrm>
          <a:prstGeom prst="roundRect">
            <a:avLst>
              <a:gd name="adj" fmla="val 5455"/>
            </a:avLst>
          </a:prstGeom>
          <a:solidFill>
            <a:srgbClr val="1E2A3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127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401568"/>
            <a:ext cx="2404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用例从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6D5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 / diff 映射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74136" y="3035808"/>
            <a:ext cx="256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84448" y="3035808"/>
            <a:ext cx="2587752" cy="1005840"/>
          </a:xfrm>
          <a:prstGeom prst="roundRect">
            <a:avLst>
              <a:gd name="adj" fmla="val 5455"/>
            </a:avLst>
          </a:prstGeom>
          <a:solidFill>
            <a:srgbClr val="1E2A3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3127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75888" y="3401568"/>
            <a:ext cx="2404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分层推进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6D5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便宜的先跑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35624" y="3035808"/>
            <a:ext cx="256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45936" y="3035808"/>
            <a:ext cx="2587752" cy="1005840"/>
          </a:xfrm>
          <a:prstGeom prst="roundRect">
            <a:avLst>
              <a:gd name="adj" fmla="val 5455"/>
            </a:avLst>
          </a:prstGeom>
          <a:solidFill>
            <a:srgbClr val="1E2A3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3127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7376" y="3401568"/>
            <a:ext cx="2404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拿真实环境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6D5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配置核对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97112" y="3035808"/>
            <a:ext cx="256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07424" y="3035808"/>
            <a:ext cx="2587752" cy="1005840"/>
          </a:xfrm>
          <a:prstGeom prst="roundRect">
            <a:avLst>
              <a:gd name="adj" fmla="val 5455"/>
            </a:avLst>
          </a:prstGeom>
          <a:solidFill>
            <a:srgbClr val="1E2A3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7152" y="3127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98864" y="3401568"/>
            <a:ext cx="2404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发现问题给选项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6D5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修复走 agent-dev-loop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343400"/>
            <a:ext cx="10515600" cy="1005840"/>
          </a:xfrm>
          <a:prstGeom prst="roundRect">
            <a:avLst>
              <a:gd name="adj" fmla="val 6364"/>
            </a:avLst>
          </a:prstGeom>
          <a:solidFill>
            <a:srgbClr val="16283E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343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Q&amp;A 备料　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6D5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Appium/Maestro 区别 · AI 乱点怎么办 · 自愈掩盖 bug? · flaky 放过真 bug? · 缓存抗 UI 漂移 · 为何不内置 AI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A8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谢谢！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AutoTest 技术分享</dc:title>
  <dc:subject>PptxGenJS Presentation</dc:subject>
  <dc:creator>Kai</dc:creator>
  <cp:lastModifiedBy>Kai</cp:lastModifiedBy>
  <cp:revision>1</cp:revision>
  <dcterms:created xsi:type="dcterms:W3CDTF">2026-07-07T14:30:06Z</dcterms:created>
  <dcterms:modified xsi:type="dcterms:W3CDTF">2026-07-07T14:30:06Z</dcterms:modified>
</cp:coreProperties>
</file>